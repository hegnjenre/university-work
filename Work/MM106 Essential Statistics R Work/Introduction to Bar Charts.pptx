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2" r:id="rId5"/>
    <p:sldId id="261" r:id="rId6"/>
    <p:sldId id="273" r:id="rId7"/>
    <p:sldId id="272" r:id="rId8"/>
    <p:sldId id="271" r:id="rId9"/>
    <p:sldId id="270" r:id="rId10"/>
    <p:sldId id="260" r:id="rId11"/>
    <p:sldId id="258" r:id="rId12"/>
    <p:sldId id="259" r:id="rId13"/>
    <p:sldId id="264" r:id="rId14"/>
    <p:sldId id="265" r:id="rId15"/>
    <p:sldId id="266" r:id="rId16"/>
    <p:sldId id="267"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67" d="100"/>
          <a:sy n="67" d="100"/>
        </p:scale>
        <p:origin x="5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11653-59DC-F70B-7820-8372925B964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6B535A17-6BF0-D354-FF44-6D29468CEC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092E958F-1701-CE9C-5748-269B9A6321AA}"/>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5" name="Footer Placeholder 4">
            <a:extLst>
              <a:ext uri="{FF2B5EF4-FFF2-40B4-BE49-F238E27FC236}">
                <a16:creationId xmlns:a16="http://schemas.microsoft.com/office/drawing/2014/main" id="{D6F611E1-93F4-E1F1-812E-CFB3DB07B70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160048-593A-558F-685B-25656CEB2A23}"/>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4157844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D317B-D219-88DD-94C0-AACBA9E9DE1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D4E50FF-D49E-D48F-BE78-C19B961EF0D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8037FB6-D21C-13C3-D306-17CB76D3D363}"/>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5" name="Footer Placeholder 4">
            <a:extLst>
              <a:ext uri="{FF2B5EF4-FFF2-40B4-BE49-F238E27FC236}">
                <a16:creationId xmlns:a16="http://schemas.microsoft.com/office/drawing/2014/main" id="{D9EA1A11-05EA-995D-93DF-53E1528005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91ECF5-7301-71CD-F640-A1390BB83C5C}"/>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3698028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71B19-A30D-2014-D9BD-6F08EAFEE81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1BCB3FDD-35F0-C828-1983-7F652D0551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513649D-C84B-79F6-A3F9-FF1690D2E4CC}"/>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5" name="Footer Placeholder 4">
            <a:extLst>
              <a:ext uri="{FF2B5EF4-FFF2-40B4-BE49-F238E27FC236}">
                <a16:creationId xmlns:a16="http://schemas.microsoft.com/office/drawing/2014/main" id="{0C4032D9-651F-3304-1B45-EF16102E9E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EE1052-E34F-E0B1-A4A6-C8048A1E0571}"/>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1215199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5AEC8-B5A6-3531-8F90-0B6754F4D75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B6334FA-21FD-E0C9-6194-A48E5CE41DB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4B6CA03-D9EE-881A-7D1B-28E2321D02C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FAD11FDC-F362-1FA8-361D-93F7094DA811}"/>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6" name="Footer Placeholder 5">
            <a:extLst>
              <a:ext uri="{FF2B5EF4-FFF2-40B4-BE49-F238E27FC236}">
                <a16:creationId xmlns:a16="http://schemas.microsoft.com/office/drawing/2014/main" id="{FF65A13C-B994-23F1-93C5-4A093F5F0C9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5BCA45-6772-ABF0-AA86-5F2F5CF0D51E}"/>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3754946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F9108-9E97-E222-4A51-2E1EACE34C6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123BBEE4-EAE5-203B-B3B6-2AA5CBF199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DADB2D5-6F8A-520B-6D5C-6C386146027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B5A55DF-F2DF-4E80-1D80-48077456E2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C8ED4FB-B3CB-7830-65B0-09E4AB681D6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0FBEA87E-ABDE-9730-45D9-C6FD55D70A08}"/>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8" name="Footer Placeholder 7">
            <a:extLst>
              <a:ext uri="{FF2B5EF4-FFF2-40B4-BE49-F238E27FC236}">
                <a16:creationId xmlns:a16="http://schemas.microsoft.com/office/drawing/2014/main" id="{EC4D73CC-55EE-E1CF-CD46-6E837641450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D670EB8-90E8-C84E-0C1A-424DF9709032}"/>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670517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7F91D-1703-4B04-5E4B-4E57661E37A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06BA21C-25C2-744B-1B91-2F5A5880CDFE}"/>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4" name="Footer Placeholder 3">
            <a:extLst>
              <a:ext uri="{FF2B5EF4-FFF2-40B4-BE49-F238E27FC236}">
                <a16:creationId xmlns:a16="http://schemas.microsoft.com/office/drawing/2014/main" id="{4E3F546C-941B-0ADB-42B2-3B7C8E10F21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6549DCE-9794-6628-7D60-2055B7F2D721}"/>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3796189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DEB1CE-42D5-7E48-2625-1FF342660218}"/>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3" name="Footer Placeholder 2">
            <a:extLst>
              <a:ext uri="{FF2B5EF4-FFF2-40B4-BE49-F238E27FC236}">
                <a16:creationId xmlns:a16="http://schemas.microsoft.com/office/drawing/2014/main" id="{64CADCFE-FD6D-DDFB-64C3-625046F27F0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7B22666-4DDA-8DFA-0040-747488328A79}"/>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3173713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6EE83-40E8-4250-09E5-A9D29BAF93C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AAF293B-50C8-061D-E27C-D13BBCCB21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3056A663-F29D-81D0-B37F-C850D5B9B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DB131AB-7484-4920-493C-03803A239CE9}"/>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6" name="Footer Placeholder 5">
            <a:extLst>
              <a:ext uri="{FF2B5EF4-FFF2-40B4-BE49-F238E27FC236}">
                <a16:creationId xmlns:a16="http://schemas.microsoft.com/office/drawing/2014/main" id="{912D348E-30B6-750C-4FA8-7719BB6CE15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DF0E499-7494-3B40-DD9D-F592C8FD9E51}"/>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3798419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1FE4B-5026-1E39-6CD8-639496D4223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832B90C-08B8-3B11-D344-ECCB416591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8E25A91-7E86-29A8-2CDD-7D38207551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2F6D660-E9FB-2ACA-3251-FA7F6908A11F}"/>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6" name="Footer Placeholder 5">
            <a:extLst>
              <a:ext uri="{FF2B5EF4-FFF2-40B4-BE49-F238E27FC236}">
                <a16:creationId xmlns:a16="http://schemas.microsoft.com/office/drawing/2014/main" id="{874F81B8-84EF-9553-98DE-FE0BC4C29C1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445E9FC-57FF-9AB2-D936-37C5B9D8A1F5}"/>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857198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73859-B35F-E3CA-55B6-0763B2E4A78D}"/>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687B32A-4214-A89A-1F13-C6C318CF4B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B08DB86-3890-A48B-A26D-FCDFDBAD5C23}"/>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5" name="Footer Placeholder 4">
            <a:extLst>
              <a:ext uri="{FF2B5EF4-FFF2-40B4-BE49-F238E27FC236}">
                <a16:creationId xmlns:a16="http://schemas.microsoft.com/office/drawing/2014/main" id="{7453C100-49BF-6842-DC4E-12CDDADB5BE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CE0AC6-8FDC-6F68-B738-1E9E628D7D5F}"/>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3241743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950E5A-3AE4-3035-1DA0-3C471175A757}"/>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2EAE7C08-3505-1E8E-4B60-4CFFA050026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25E7B9A-88A5-1A82-6A3B-95B3F8FDF079}"/>
              </a:ext>
            </a:extLst>
          </p:cNvPr>
          <p:cNvSpPr>
            <a:spLocks noGrp="1"/>
          </p:cNvSpPr>
          <p:nvPr>
            <p:ph type="dt" sz="half" idx="10"/>
          </p:nvPr>
        </p:nvSpPr>
        <p:spPr/>
        <p:txBody>
          <a:bodyPr/>
          <a:lstStyle/>
          <a:p>
            <a:fld id="{7C47DE48-C9B1-4D6F-8B9F-BA4A3BA067B1}" type="datetimeFigureOut">
              <a:rPr lang="en-GB" smtClean="0"/>
              <a:t>02/10/2024</a:t>
            </a:fld>
            <a:endParaRPr lang="en-GB"/>
          </a:p>
        </p:txBody>
      </p:sp>
      <p:sp>
        <p:nvSpPr>
          <p:cNvPr id="5" name="Footer Placeholder 4">
            <a:extLst>
              <a:ext uri="{FF2B5EF4-FFF2-40B4-BE49-F238E27FC236}">
                <a16:creationId xmlns:a16="http://schemas.microsoft.com/office/drawing/2014/main" id="{4EE00416-8B98-C469-31C2-F1AECBB6BCA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F0F371-457B-9FBE-8284-3E755E065501}"/>
              </a:ext>
            </a:extLst>
          </p:cNvPr>
          <p:cNvSpPr>
            <a:spLocks noGrp="1"/>
          </p:cNvSpPr>
          <p:nvPr>
            <p:ph type="sldNum" sz="quarter" idx="12"/>
          </p:nvPr>
        </p:nvSpPr>
        <p:spPr/>
        <p:txBody>
          <a:bodyPr/>
          <a:lstStyle/>
          <a:p>
            <a:fld id="{85F8FB85-CDE8-4FF8-9231-7092E1349A87}" type="slidenum">
              <a:rPr lang="en-GB" smtClean="0"/>
              <a:t>‹#›</a:t>
            </a:fld>
            <a:endParaRPr lang="en-GB"/>
          </a:p>
        </p:txBody>
      </p:sp>
    </p:spTree>
    <p:extLst>
      <p:ext uri="{BB962C8B-B14F-4D97-AF65-F5344CB8AC3E}">
        <p14:creationId xmlns:p14="http://schemas.microsoft.com/office/powerpoint/2010/main" val="919983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C11B6B-3737-4903-ED18-EDBE6678A4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197A9452-7677-EFF8-A3A3-F3F721256A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74125C7-CADA-CF91-0CD4-3B0B2220E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47DE48-C9B1-4D6F-8B9F-BA4A3BA067B1}" type="datetimeFigureOut">
              <a:rPr lang="en-GB" smtClean="0"/>
              <a:t>02/10/2024</a:t>
            </a:fld>
            <a:endParaRPr lang="en-GB"/>
          </a:p>
        </p:txBody>
      </p:sp>
      <p:sp>
        <p:nvSpPr>
          <p:cNvPr id="5" name="Footer Placeholder 4">
            <a:extLst>
              <a:ext uri="{FF2B5EF4-FFF2-40B4-BE49-F238E27FC236}">
                <a16:creationId xmlns:a16="http://schemas.microsoft.com/office/drawing/2014/main" id="{46B76BBA-88E4-27C2-F51E-291CD36483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79E9BDA-9EBE-32C3-4F1B-C3ADBA2478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F8FB85-CDE8-4FF8-9231-7092E1349A87}" type="slidenum">
              <a:rPr lang="en-GB" smtClean="0"/>
              <a:t>‹#›</a:t>
            </a:fld>
            <a:endParaRPr lang="en-GB"/>
          </a:p>
        </p:txBody>
      </p:sp>
    </p:spTree>
    <p:extLst>
      <p:ext uri="{BB962C8B-B14F-4D97-AF65-F5344CB8AC3E}">
        <p14:creationId xmlns:p14="http://schemas.microsoft.com/office/powerpoint/2010/main" val="771968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17CE2-269E-50BE-B746-0F2276382995}"/>
              </a:ext>
            </a:extLst>
          </p:cNvPr>
          <p:cNvSpPr>
            <a:spLocks noGrp="1"/>
          </p:cNvSpPr>
          <p:nvPr>
            <p:ph type="ctrTitle"/>
          </p:nvPr>
        </p:nvSpPr>
        <p:spPr/>
        <p:txBody>
          <a:bodyPr/>
          <a:lstStyle/>
          <a:p>
            <a:r>
              <a:rPr lang="en-GB" dirty="0"/>
              <a:t>Topic 3: Data Visualisation Introduction to Bar Charts</a:t>
            </a:r>
          </a:p>
        </p:txBody>
      </p:sp>
      <p:sp>
        <p:nvSpPr>
          <p:cNvPr id="3" name="Subtitle 2">
            <a:extLst>
              <a:ext uri="{FF2B5EF4-FFF2-40B4-BE49-F238E27FC236}">
                <a16:creationId xmlns:a16="http://schemas.microsoft.com/office/drawing/2014/main" id="{FEFEB7CD-DDB3-7A1C-53E4-00D7F72756E9}"/>
              </a:ext>
            </a:extLst>
          </p:cNvPr>
          <p:cNvSpPr>
            <a:spLocks noGrp="1"/>
          </p:cNvSpPr>
          <p:nvPr>
            <p:ph type="subTitle" idx="1"/>
          </p:nvPr>
        </p:nvSpPr>
        <p:spPr/>
        <p:txBody>
          <a:bodyPr/>
          <a:lstStyle/>
          <a:p>
            <a:r>
              <a:rPr lang="en-GB" dirty="0"/>
              <a:t>MM106/BM110</a:t>
            </a:r>
          </a:p>
          <a:p>
            <a:r>
              <a:rPr lang="en-GB" dirty="0"/>
              <a:t>Connor Watret</a:t>
            </a:r>
          </a:p>
          <a:p>
            <a:r>
              <a:rPr lang="en-GB" dirty="0"/>
              <a:t>connor.watret@strath.ac.uk</a:t>
            </a:r>
          </a:p>
        </p:txBody>
      </p:sp>
    </p:spTree>
    <p:extLst>
      <p:ext uri="{BB962C8B-B14F-4D97-AF65-F5344CB8AC3E}">
        <p14:creationId xmlns:p14="http://schemas.microsoft.com/office/powerpoint/2010/main" val="2124156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2974-F2BF-0949-BC22-3ABADE50AC52}"/>
              </a:ext>
            </a:extLst>
          </p:cNvPr>
          <p:cNvSpPr>
            <a:spLocks noGrp="1"/>
          </p:cNvSpPr>
          <p:nvPr>
            <p:ph type="title"/>
          </p:nvPr>
        </p:nvSpPr>
        <p:spPr/>
        <p:txBody>
          <a:bodyPr/>
          <a:lstStyle/>
          <a:p>
            <a:r>
              <a:rPr lang="en-GB" dirty="0"/>
              <a:t>When to use a bar chart</a:t>
            </a:r>
          </a:p>
        </p:txBody>
      </p:sp>
      <p:sp>
        <p:nvSpPr>
          <p:cNvPr id="3" name="Content Placeholder 2">
            <a:extLst>
              <a:ext uri="{FF2B5EF4-FFF2-40B4-BE49-F238E27FC236}">
                <a16:creationId xmlns:a16="http://schemas.microsoft.com/office/drawing/2014/main" id="{66896BC7-6A89-CBC8-B8C0-3435BBD4DF45}"/>
              </a:ext>
            </a:extLst>
          </p:cNvPr>
          <p:cNvSpPr>
            <a:spLocks noGrp="1"/>
          </p:cNvSpPr>
          <p:nvPr>
            <p:ph idx="1"/>
          </p:nvPr>
        </p:nvSpPr>
        <p:spPr/>
        <p:txBody>
          <a:bodyPr/>
          <a:lstStyle/>
          <a:p>
            <a:pPr marL="0" indent="0">
              <a:buNone/>
            </a:pPr>
            <a:r>
              <a:rPr lang="en-GB" dirty="0"/>
              <a:t>Bar plots (or bar charts) are used when you have a number of samples which fall into categories i.e. </a:t>
            </a:r>
            <a:r>
              <a:rPr lang="en-GB" b="1" dirty="0"/>
              <a:t>categorical data</a:t>
            </a:r>
            <a:r>
              <a:rPr lang="en-GB" dirty="0"/>
              <a:t>. </a:t>
            </a:r>
          </a:p>
          <a:p>
            <a:pPr marL="0" indent="0">
              <a:buNone/>
            </a:pPr>
            <a:endParaRPr lang="en-GB" dirty="0"/>
          </a:p>
          <a:p>
            <a:pPr marL="0" indent="0">
              <a:buNone/>
            </a:pPr>
            <a:r>
              <a:rPr lang="en-GB" dirty="0"/>
              <a:t>The main focus of interest when using a bar chart is the relative size of each category - size might refer to the number of observations in each category, or it might be the average in each category. You might have seen these in the context of voter polls and surveys.</a:t>
            </a:r>
          </a:p>
        </p:txBody>
      </p:sp>
    </p:spTree>
    <p:extLst>
      <p:ext uri="{BB962C8B-B14F-4D97-AF65-F5344CB8AC3E}">
        <p14:creationId xmlns:p14="http://schemas.microsoft.com/office/powerpoint/2010/main" val="1511366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4E8CC-5D47-92AD-365A-58FD92949021}"/>
              </a:ext>
            </a:extLst>
          </p:cNvPr>
          <p:cNvSpPr>
            <a:spLocks noGrp="1"/>
          </p:cNvSpPr>
          <p:nvPr>
            <p:ph type="title"/>
          </p:nvPr>
        </p:nvSpPr>
        <p:spPr/>
        <p:txBody>
          <a:bodyPr/>
          <a:lstStyle/>
          <a:p>
            <a:r>
              <a:rPr lang="en-GB" dirty="0"/>
              <a:t>Iris Data Set</a:t>
            </a:r>
          </a:p>
        </p:txBody>
      </p:sp>
      <p:sp>
        <p:nvSpPr>
          <p:cNvPr id="3" name="Content Placeholder 2">
            <a:extLst>
              <a:ext uri="{FF2B5EF4-FFF2-40B4-BE49-F238E27FC236}">
                <a16:creationId xmlns:a16="http://schemas.microsoft.com/office/drawing/2014/main" id="{96A618EF-521C-E1E2-343C-21C8F1BEDE84}"/>
              </a:ext>
            </a:extLst>
          </p:cNvPr>
          <p:cNvSpPr>
            <a:spLocks noGrp="1"/>
          </p:cNvSpPr>
          <p:nvPr>
            <p:ph idx="1"/>
          </p:nvPr>
        </p:nvSpPr>
        <p:spPr>
          <a:xfrm>
            <a:off x="838200" y="1825625"/>
            <a:ext cx="10515600" cy="4462880"/>
          </a:xfrm>
        </p:spPr>
        <p:txBody>
          <a:bodyPr/>
          <a:lstStyle/>
          <a:p>
            <a:pPr marL="0" indent="0">
              <a:buNone/>
            </a:pPr>
            <a:r>
              <a:rPr lang="en-GB" dirty="0"/>
              <a:t>R has a number of built in data sets, this week we are going to use the iris data set in R. </a:t>
            </a:r>
          </a:p>
          <a:p>
            <a:pPr marL="0" indent="0">
              <a:buNone/>
            </a:pPr>
            <a:r>
              <a:rPr lang="en-GB" dirty="0"/>
              <a:t>To access the iris data set in R </a:t>
            </a:r>
          </a:p>
          <a:p>
            <a:pPr marL="0" indent="0">
              <a:buNone/>
            </a:pPr>
            <a:endParaRPr lang="en-GB" dirty="0"/>
          </a:p>
          <a:p>
            <a:pPr marL="0" indent="0">
              <a:buNone/>
            </a:pPr>
            <a:r>
              <a:rPr lang="en-GB" dirty="0"/>
              <a:t># open the iris data set </a:t>
            </a:r>
          </a:p>
          <a:p>
            <a:pPr marL="0" indent="0">
              <a:buNone/>
            </a:pPr>
            <a:r>
              <a:rPr lang="en-GB" dirty="0"/>
              <a:t>data(iris) </a:t>
            </a:r>
          </a:p>
          <a:p>
            <a:pPr marL="0" indent="0">
              <a:buNone/>
            </a:pPr>
            <a:endParaRPr lang="en-GB" dirty="0"/>
          </a:p>
          <a:p>
            <a:pPr marL="0" indent="0">
              <a:buNone/>
            </a:pPr>
            <a:r>
              <a:rPr lang="en-GB" dirty="0"/>
              <a:t>Once you have done this the iris data set will appear in your Global Environment.</a:t>
            </a:r>
          </a:p>
        </p:txBody>
      </p:sp>
    </p:spTree>
    <p:extLst>
      <p:ext uri="{BB962C8B-B14F-4D97-AF65-F5344CB8AC3E}">
        <p14:creationId xmlns:p14="http://schemas.microsoft.com/office/powerpoint/2010/main" val="2299164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A76BD-EA8B-F9AB-BEDE-AB0D3B7CAC2A}"/>
              </a:ext>
            </a:extLst>
          </p:cNvPr>
          <p:cNvSpPr>
            <a:spLocks noGrp="1"/>
          </p:cNvSpPr>
          <p:nvPr>
            <p:ph type="title"/>
          </p:nvPr>
        </p:nvSpPr>
        <p:spPr/>
        <p:txBody>
          <a:bodyPr/>
          <a:lstStyle/>
          <a:p>
            <a:r>
              <a:rPr lang="en-GB" dirty="0"/>
              <a:t>R Help</a:t>
            </a:r>
          </a:p>
        </p:txBody>
      </p:sp>
      <p:sp>
        <p:nvSpPr>
          <p:cNvPr id="3" name="Content Placeholder 2">
            <a:extLst>
              <a:ext uri="{FF2B5EF4-FFF2-40B4-BE49-F238E27FC236}">
                <a16:creationId xmlns:a16="http://schemas.microsoft.com/office/drawing/2014/main" id="{E4CC2936-D7AC-5BE7-B785-9AB2217657EE}"/>
              </a:ext>
            </a:extLst>
          </p:cNvPr>
          <p:cNvSpPr>
            <a:spLocks noGrp="1"/>
          </p:cNvSpPr>
          <p:nvPr>
            <p:ph idx="1"/>
          </p:nvPr>
        </p:nvSpPr>
        <p:spPr/>
        <p:txBody>
          <a:bodyPr>
            <a:normAutofit/>
          </a:bodyPr>
          <a:lstStyle/>
          <a:p>
            <a:pPr marL="0" indent="0">
              <a:buNone/>
            </a:pPr>
            <a:r>
              <a:rPr lang="en-GB" dirty="0"/>
              <a:t>You may have noticed that beside Files, Packages etc there is a button that says Help. This allows you to access the R help file. We have introduced the iris data set, but you may want more information on the data set - so how do you get it ? </a:t>
            </a:r>
          </a:p>
          <a:p>
            <a:pPr marL="0" indent="0">
              <a:buNone/>
            </a:pPr>
            <a:endParaRPr lang="en-GB" sz="2000" dirty="0"/>
          </a:p>
          <a:p>
            <a:pPr marL="457200" lvl="1" indent="0">
              <a:buNone/>
            </a:pPr>
            <a:r>
              <a:rPr lang="en-GB" sz="2800" b="1" dirty="0">
                <a:solidFill>
                  <a:schemeClr val="accent6"/>
                </a:solidFill>
                <a:latin typeface="Courier New" panose="02070309020205020404" pitchFamily="49" charset="0"/>
                <a:cs typeface="Courier New" panose="02070309020205020404" pitchFamily="49" charset="0"/>
              </a:rPr>
              <a:t># more information on the iris data set</a:t>
            </a:r>
            <a:r>
              <a:rPr lang="en-GB" sz="2800" b="1" dirty="0">
                <a:latin typeface="Courier New" panose="02070309020205020404" pitchFamily="49" charset="0"/>
                <a:cs typeface="Courier New" panose="02070309020205020404" pitchFamily="49" charset="0"/>
              </a:rPr>
              <a:t> </a:t>
            </a:r>
          </a:p>
          <a:p>
            <a:pPr marL="457200" lvl="1" indent="0">
              <a:buNone/>
            </a:pPr>
            <a:r>
              <a:rPr lang="en-GB" sz="2800" b="1" dirty="0">
                <a:latin typeface="Courier New" panose="02070309020205020404" pitchFamily="49" charset="0"/>
                <a:cs typeface="Courier New" panose="02070309020205020404" pitchFamily="49" charset="0"/>
              </a:rPr>
              <a:t>?iris </a:t>
            </a:r>
          </a:p>
          <a:p>
            <a:pPr marL="0" indent="0">
              <a:buNone/>
            </a:pPr>
            <a:endParaRPr lang="en-GB" sz="2000" dirty="0"/>
          </a:p>
          <a:p>
            <a:pPr marL="0" indent="0">
              <a:buNone/>
            </a:pPr>
            <a:r>
              <a:rPr lang="en-GB" dirty="0"/>
              <a:t>If you type a ? followed by an R command or function, then it will automatically open the R help functionality.</a:t>
            </a:r>
          </a:p>
        </p:txBody>
      </p:sp>
      <p:sp>
        <p:nvSpPr>
          <p:cNvPr id="4" name="Rectangle 3">
            <a:extLst>
              <a:ext uri="{FF2B5EF4-FFF2-40B4-BE49-F238E27FC236}">
                <a16:creationId xmlns:a16="http://schemas.microsoft.com/office/drawing/2014/main" id="{33BD32F2-5ACD-D7E2-90BA-6282684D538D}"/>
              </a:ext>
            </a:extLst>
          </p:cNvPr>
          <p:cNvSpPr/>
          <p:nvPr/>
        </p:nvSpPr>
        <p:spPr>
          <a:xfrm>
            <a:off x="838200" y="3665621"/>
            <a:ext cx="10515600" cy="12192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61750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A071B-1F5A-253F-6405-0EC22B49DF53}"/>
              </a:ext>
            </a:extLst>
          </p:cNvPr>
          <p:cNvSpPr>
            <a:spLocks noGrp="1"/>
          </p:cNvSpPr>
          <p:nvPr>
            <p:ph type="title"/>
          </p:nvPr>
        </p:nvSpPr>
        <p:spPr/>
        <p:txBody>
          <a:bodyPr/>
          <a:lstStyle/>
          <a:p>
            <a:r>
              <a:rPr lang="en-GB" dirty="0"/>
              <a:t>R help - Iris Dataset </a:t>
            </a:r>
          </a:p>
        </p:txBody>
      </p:sp>
      <p:pic>
        <p:nvPicPr>
          <p:cNvPr id="5" name="Content Placeholder 4">
            <a:extLst>
              <a:ext uri="{FF2B5EF4-FFF2-40B4-BE49-F238E27FC236}">
                <a16:creationId xmlns:a16="http://schemas.microsoft.com/office/drawing/2014/main" id="{C210EDD4-33A4-535D-C0DF-265D0344CA28}"/>
              </a:ext>
            </a:extLst>
          </p:cNvPr>
          <p:cNvPicPr>
            <a:picLocks noGrp="1" noChangeAspect="1"/>
          </p:cNvPicPr>
          <p:nvPr>
            <p:ph idx="1"/>
          </p:nvPr>
        </p:nvPicPr>
        <p:blipFill>
          <a:blip r:embed="rId2"/>
          <a:stretch>
            <a:fillRect/>
          </a:stretch>
        </p:blipFill>
        <p:spPr>
          <a:xfrm>
            <a:off x="3555694" y="1825625"/>
            <a:ext cx="5080612" cy="4351338"/>
          </a:xfrm>
        </p:spPr>
      </p:pic>
    </p:spTree>
    <p:extLst>
      <p:ext uri="{BB962C8B-B14F-4D97-AF65-F5344CB8AC3E}">
        <p14:creationId xmlns:p14="http://schemas.microsoft.com/office/powerpoint/2010/main" val="343710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19E9F-B861-E0A4-9AA2-6C29EB2B4986}"/>
              </a:ext>
            </a:extLst>
          </p:cNvPr>
          <p:cNvSpPr>
            <a:spLocks noGrp="1"/>
          </p:cNvSpPr>
          <p:nvPr>
            <p:ph type="title"/>
          </p:nvPr>
        </p:nvSpPr>
        <p:spPr/>
        <p:txBody>
          <a:bodyPr/>
          <a:lstStyle/>
          <a:p>
            <a:r>
              <a:rPr lang="en-GB" dirty="0"/>
              <a:t>Iris Dataset </a:t>
            </a:r>
          </a:p>
        </p:txBody>
      </p:sp>
      <p:sp>
        <p:nvSpPr>
          <p:cNvPr id="3" name="Content Placeholder 2">
            <a:extLst>
              <a:ext uri="{FF2B5EF4-FFF2-40B4-BE49-F238E27FC236}">
                <a16:creationId xmlns:a16="http://schemas.microsoft.com/office/drawing/2014/main" id="{3FD329B7-07E9-137E-0AEA-F39FB5D6F3A0}"/>
              </a:ext>
            </a:extLst>
          </p:cNvPr>
          <p:cNvSpPr>
            <a:spLocks noGrp="1"/>
          </p:cNvSpPr>
          <p:nvPr>
            <p:ph idx="1"/>
          </p:nvPr>
        </p:nvSpPr>
        <p:spPr/>
        <p:txBody>
          <a:bodyPr/>
          <a:lstStyle/>
          <a:p>
            <a:pPr marL="0" indent="0">
              <a:buNone/>
            </a:pPr>
            <a:r>
              <a:rPr lang="en-GB" b="1" dirty="0">
                <a:latin typeface="Courier New" panose="02070309020205020404" pitchFamily="49" charset="0"/>
                <a:cs typeface="Courier New" panose="02070309020205020404" pitchFamily="49" charset="0"/>
              </a:rPr>
              <a:t>iris</a:t>
            </a:r>
            <a:r>
              <a:rPr lang="en-GB" dirty="0"/>
              <a:t> is a data frame with 150 cases (rows) and 5 variables (columns) named </a:t>
            </a:r>
            <a:r>
              <a:rPr lang="en-GB" b="1" dirty="0" err="1">
                <a:latin typeface="Courier New" panose="02070309020205020404" pitchFamily="49" charset="0"/>
                <a:cs typeface="Courier New" panose="02070309020205020404" pitchFamily="49" charset="0"/>
              </a:rPr>
              <a:t>Sepal.Length</a:t>
            </a:r>
            <a:r>
              <a:rPr lang="en-GB" dirty="0"/>
              <a:t>, </a:t>
            </a:r>
            <a:r>
              <a:rPr lang="en-GB" b="1" dirty="0" err="1">
                <a:latin typeface="Courier New" panose="02070309020205020404" pitchFamily="49" charset="0"/>
                <a:cs typeface="Courier New" panose="02070309020205020404" pitchFamily="49" charset="0"/>
              </a:rPr>
              <a:t>Sepal.Width</a:t>
            </a:r>
            <a:r>
              <a:rPr lang="en-GB" dirty="0"/>
              <a:t>, </a:t>
            </a:r>
            <a:r>
              <a:rPr lang="en-GB" b="1" dirty="0" err="1">
                <a:latin typeface="Courier New" panose="02070309020205020404" pitchFamily="49" charset="0"/>
                <a:cs typeface="Courier New" panose="02070309020205020404" pitchFamily="49" charset="0"/>
              </a:rPr>
              <a:t>Petal.Length</a:t>
            </a:r>
            <a:r>
              <a:rPr lang="en-GB" dirty="0"/>
              <a:t>, </a:t>
            </a:r>
            <a:r>
              <a:rPr lang="en-GB" b="1" dirty="0" err="1">
                <a:latin typeface="Courier New" panose="02070309020205020404" pitchFamily="49" charset="0"/>
                <a:cs typeface="Courier New" panose="02070309020205020404" pitchFamily="49" charset="0"/>
              </a:rPr>
              <a:t>Petal.Width</a:t>
            </a:r>
            <a:r>
              <a:rPr lang="en-GB" dirty="0"/>
              <a:t>, and </a:t>
            </a:r>
            <a:r>
              <a:rPr lang="en-GB" b="1" dirty="0">
                <a:latin typeface="Courier New" panose="02070309020205020404" pitchFamily="49" charset="0"/>
                <a:cs typeface="Courier New" panose="02070309020205020404" pitchFamily="49" charset="0"/>
              </a:rPr>
              <a:t>Species</a:t>
            </a:r>
            <a:r>
              <a:rPr lang="en-GB" dirty="0"/>
              <a:t>. </a:t>
            </a:r>
          </a:p>
          <a:p>
            <a:pPr marL="0" indent="0">
              <a:buNone/>
            </a:pPr>
            <a:endParaRPr lang="en-GB" dirty="0"/>
          </a:p>
          <a:p>
            <a:pPr marL="0" indent="0">
              <a:buNone/>
            </a:pPr>
            <a:r>
              <a:rPr lang="en-GB" b="1" dirty="0"/>
              <a:t>What is a sepal?</a:t>
            </a:r>
            <a:r>
              <a:rPr lang="en-GB" dirty="0"/>
              <a:t> </a:t>
            </a:r>
          </a:p>
          <a:p>
            <a:pPr marL="0" indent="0">
              <a:buNone/>
            </a:pPr>
            <a:endParaRPr lang="en-GB" dirty="0"/>
          </a:p>
          <a:p>
            <a:pPr marL="0" indent="0">
              <a:buNone/>
            </a:pPr>
            <a:r>
              <a:rPr lang="en-GB" dirty="0"/>
              <a:t>The sepal is the outer parts of the flower (often green and leaf-like) that enclose a developing bud.</a:t>
            </a:r>
          </a:p>
        </p:txBody>
      </p:sp>
    </p:spTree>
    <p:extLst>
      <p:ext uri="{BB962C8B-B14F-4D97-AF65-F5344CB8AC3E}">
        <p14:creationId xmlns:p14="http://schemas.microsoft.com/office/powerpoint/2010/main" val="1619881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4B1B1-0044-C97A-44D6-D4CF1AB8186B}"/>
              </a:ext>
            </a:extLst>
          </p:cNvPr>
          <p:cNvSpPr>
            <a:spLocks noGrp="1"/>
          </p:cNvSpPr>
          <p:nvPr>
            <p:ph type="title"/>
          </p:nvPr>
        </p:nvSpPr>
        <p:spPr/>
        <p:txBody>
          <a:bodyPr/>
          <a:lstStyle/>
          <a:p>
            <a:r>
              <a:rPr lang="en-GB" dirty="0"/>
              <a:t>Create a bar plot of the iris data set </a:t>
            </a:r>
          </a:p>
        </p:txBody>
      </p:sp>
      <p:sp>
        <p:nvSpPr>
          <p:cNvPr id="3" name="Content Placeholder 2">
            <a:extLst>
              <a:ext uri="{FF2B5EF4-FFF2-40B4-BE49-F238E27FC236}">
                <a16:creationId xmlns:a16="http://schemas.microsoft.com/office/drawing/2014/main" id="{4A837B8D-600B-9BE7-92C4-04CD1082AF46}"/>
              </a:ext>
            </a:extLst>
          </p:cNvPr>
          <p:cNvSpPr>
            <a:spLocks noGrp="1"/>
          </p:cNvSpPr>
          <p:nvPr>
            <p:ph idx="1"/>
          </p:nvPr>
        </p:nvSpPr>
        <p:spPr>
          <a:xfrm>
            <a:off x="838200" y="1825624"/>
            <a:ext cx="10515600" cy="4815808"/>
          </a:xfrm>
        </p:spPr>
        <p:txBody>
          <a:bodyPr>
            <a:normAutofit fontScale="85000" lnSpcReduction="20000"/>
          </a:bodyPr>
          <a:lstStyle/>
          <a:p>
            <a:pPr marL="0" indent="0">
              <a:buNone/>
            </a:pPr>
            <a:r>
              <a:rPr lang="en-GB" dirty="0"/>
              <a:t>The only categorical variable in the iris data set is Species. </a:t>
            </a:r>
          </a:p>
          <a:p>
            <a:pPr marL="0" indent="0">
              <a:buNone/>
            </a:pPr>
            <a:endParaRPr lang="en-GB" sz="1200" dirty="0"/>
          </a:p>
          <a:p>
            <a:pPr marL="457200" lvl="1" indent="0">
              <a:buNone/>
            </a:pPr>
            <a:r>
              <a:rPr lang="en-GB" sz="2800" b="1" dirty="0">
                <a:solidFill>
                  <a:schemeClr val="accent6"/>
                </a:solidFill>
                <a:latin typeface="Courier New" panose="02070309020205020404" pitchFamily="49" charset="0"/>
                <a:cs typeface="Courier New" panose="02070309020205020404" pitchFamily="49" charset="0"/>
              </a:rPr>
              <a:t># The table function will compute a cross tabulation </a:t>
            </a:r>
          </a:p>
          <a:p>
            <a:pPr marL="457200" lvl="1" indent="0">
              <a:buNone/>
            </a:pPr>
            <a:r>
              <a:rPr lang="en-GB" sz="2800" b="1" dirty="0">
                <a:solidFill>
                  <a:schemeClr val="accent6"/>
                </a:solidFill>
                <a:latin typeface="Courier New" panose="02070309020205020404" pitchFamily="49" charset="0"/>
                <a:cs typeface="Courier New" panose="02070309020205020404" pitchFamily="49" charset="0"/>
              </a:rPr>
              <a:t># of the number of observations in each category. The </a:t>
            </a:r>
          </a:p>
          <a:p>
            <a:pPr marL="457200" lvl="1" indent="0">
              <a:buNone/>
            </a:pPr>
            <a:r>
              <a:rPr lang="en-GB" sz="2800" b="1" dirty="0">
                <a:solidFill>
                  <a:schemeClr val="accent6"/>
                </a:solidFill>
                <a:latin typeface="Courier New" panose="02070309020205020404" pitchFamily="49" charset="0"/>
                <a:cs typeface="Courier New" panose="02070309020205020404" pitchFamily="49" charset="0"/>
              </a:rPr>
              <a:t># </a:t>
            </a:r>
            <a:r>
              <a:rPr lang="en-GB" sz="2800" b="1" dirty="0" err="1">
                <a:solidFill>
                  <a:schemeClr val="accent6"/>
                </a:solidFill>
                <a:latin typeface="Courier New" panose="02070309020205020404" pitchFamily="49" charset="0"/>
                <a:cs typeface="Courier New" panose="02070309020205020404" pitchFamily="49" charset="0"/>
              </a:rPr>
              <a:t>barplot</a:t>
            </a:r>
            <a:r>
              <a:rPr lang="en-GB" sz="2800" b="1" dirty="0">
                <a:solidFill>
                  <a:schemeClr val="accent6"/>
                </a:solidFill>
                <a:latin typeface="Courier New" panose="02070309020205020404" pitchFamily="49" charset="0"/>
                <a:cs typeface="Courier New" panose="02070309020205020404" pitchFamily="49" charset="0"/>
              </a:rPr>
              <a:t> function does not count the data for you so </a:t>
            </a:r>
          </a:p>
          <a:p>
            <a:pPr marL="457200" lvl="1" indent="0">
              <a:buNone/>
            </a:pPr>
            <a:r>
              <a:rPr lang="en-GB" sz="2800" b="1" dirty="0">
                <a:solidFill>
                  <a:schemeClr val="accent6"/>
                </a:solidFill>
                <a:latin typeface="Courier New" panose="02070309020205020404" pitchFamily="49" charset="0"/>
                <a:cs typeface="Courier New" panose="02070309020205020404" pitchFamily="49" charset="0"/>
              </a:rPr>
              <a:t># you need to tell R how many of each thing there are, </a:t>
            </a:r>
          </a:p>
          <a:p>
            <a:pPr marL="457200" lvl="1" indent="0">
              <a:buNone/>
            </a:pPr>
            <a:r>
              <a:rPr lang="en-GB" sz="2800" b="1" dirty="0">
                <a:solidFill>
                  <a:schemeClr val="accent6"/>
                </a:solidFill>
                <a:latin typeface="Courier New" panose="02070309020205020404" pitchFamily="49" charset="0"/>
                <a:cs typeface="Courier New" panose="02070309020205020404" pitchFamily="49" charset="0"/>
              </a:rPr>
              <a:t># that is what the table command is doing.</a:t>
            </a:r>
            <a:r>
              <a:rPr lang="en-GB" sz="2800" b="1" dirty="0">
                <a:latin typeface="Courier New" panose="02070309020205020404" pitchFamily="49" charset="0"/>
                <a:cs typeface="Courier New" panose="02070309020205020404" pitchFamily="49" charset="0"/>
              </a:rPr>
              <a:t> </a:t>
            </a:r>
          </a:p>
          <a:p>
            <a:pPr marL="457200" lvl="1" indent="0">
              <a:buNone/>
            </a:pPr>
            <a:endParaRPr lang="en-GB" sz="1200" b="1" dirty="0">
              <a:latin typeface="Courier New" panose="02070309020205020404" pitchFamily="49" charset="0"/>
              <a:cs typeface="Courier New" panose="02070309020205020404" pitchFamily="49" charset="0"/>
            </a:endParaRPr>
          </a:p>
          <a:p>
            <a:pPr marL="457200" lvl="1" indent="0">
              <a:buNone/>
            </a:pPr>
            <a:r>
              <a:rPr lang="en-GB" sz="2800" b="1" dirty="0">
                <a:latin typeface="Courier New" panose="02070309020205020404" pitchFamily="49" charset="0"/>
                <a:cs typeface="Courier New" panose="02070309020205020404" pitchFamily="49" charset="0"/>
              </a:rPr>
              <a:t>species data &lt;- table(</a:t>
            </a:r>
            <a:r>
              <a:rPr lang="en-GB" sz="2800" b="1" dirty="0" err="1">
                <a:latin typeface="Courier New" panose="02070309020205020404" pitchFamily="49" charset="0"/>
                <a:cs typeface="Courier New" panose="02070309020205020404" pitchFamily="49" charset="0"/>
              </a:rPr>
              <a:t>iris$species</a:t>
            </a:r>
            <a:r>
              <a:rPr lang="en-GB" sz="2800" b="1" dirty="0">
                <a:latin typeface="Courier New" panose="02070309020205020404" pitchFamily="49" charset="0"/>
                <a:cs typeface="Courier New" panose="02070309020205020404" pitchFamily="49" charset="0"/>
              </a:rPr>
              <a:t>) </a:t>
            </a:r>
          </a:p>
          <a:p>
            <a:pPr marL="457200" lvl="1" indent="0">
              <a:buNone/>
            </a:pPr>
            <a:r>
              <a:rPr lang="en-GB" sz="2800" b="1" dirty="0" err="1">
                <a:latin typeface="Courier New" panose="02070309020205020404" pitchFamily="49" charset="0"/>
                <a:cs typeface="Courier New" panose="02070309020205020404" pitchFamily="49" charset="0"/>
              </a:rPr>
              <a:t>species_data</a:t>
            </a:r>
            <a:r>
              <a:rPr lang="en-GB" sz="2800" b="1" dirty="0">
                <a:latin typeface="Courier New" panose="02070309020205020404" pitchFamily="49" charset="0"/>
                <a:cs typeface="Courier New" panose="02070309020205020404" pitchFamily="49" charset="0"/>
              </a:rPr>
              <a:t> </a:t>
            </a:r>
          </a:p>
          <a:p>
            <a:pPr marL="457200" lvl="1" indent="0">
              <a:buNone/>
            </a:pPr>
            <a:endParaRPr lang="en-GB" sz="1200" b="1" dirty="0">
              <a:latin typeface="Courier New" panose="02070309020205020404" pitchFamily="49" charset="0"/>
              <a:cs typeface="Courier New" panose="02070309020205020404" pitchFamily="49" charset="0"/>
            </a:endParaRPr>
          </a:p>
          <a:p>
            <a:pPr marL="457200" lvl="1" indent="0">
              <a:buNone/>
            </a:pPr>
            <a:r>
              <a:rPr lang="en-GB" sz="2800" b="1" dirty="0" err="1">
                <a:latin typeface="Courier New" panose="02070309020205020404" pitchFamily="49" charset="0"/>
                <a:cs typeface="Courier New" panose="02070309020205020404" pitchFamily="49" charset="0"/>
              </a:rPr>
              <a:t>setosa</a:t>
            </a:r>
            <a:r>
              <a:rPr lang="en-GB" sz="2800" b="1" dirty="0">
                <a:latin typeface="Courier New" panose="02070309020205020404" pitchFamily="49" charset="0"/>
                <a:cs typeface="Courier New" panose="02070309020205020404" pitchFamily="49" charset="0"/>
              </a:rPr>
              <a:t> versicolor virginica </a:t>
            </a:r>
          </a:p>
          <a:p>
            <a:pPr marL="457200" lvl="1" indent="0">
              <a:buNone/>
            </a:pPr>
            <a:r>
              <a:rPr lang="en-GB" sz="2800" b="1" dirty="0">
                <a:latin typeface="Courier New" panose="02070309020205020404" pitchFamily="49" charset="0"/>
                <a:cs typeface="Courier New" panose="02070309020205020404" pitchFamily="49" charset="0"/>
              </a:rPr>
              <a:t>50 50 50 </a:t>
            </a:r>
            <a:endParaRPr lang="en-GB" b="1" dirty="0">
              <a:latin typeface="Courier New" panose="02070309020205020404" pitchFamily="49" charset="0"/>
              <a:cs typeface="Courier New" panose="02070309020205020404" pitchFamily="49" charset="0"/>
            </a:endParaRPr>
          </a:p>
          <a:p>
            <a:pPr marL="0" indent="0">
              <a:buNone/>
            </a:pPr>
            <a:endParaRPr lang="en-GB" sz="1200" dirty="0"/>
          </a:p>
          <a:p>
            <a:pPr marL="0" indent="0">
              <a:buNone/>
            </a:pPr>
            <a:r>
              <a:rPr lang="en-GB" dirty="0"/>
              <a:t>We can see that there are 3 species of iris and each species has 50 observations in the data set.</a:t>
            </a:r>
          </a:p>
        </p:txBody>
      </p:sp>
      <p:sp>
        <p:nvSpPr>
          <p:cNvPr id="4" name="Rectangle 3">
            <a:extLst>
              <a:ext uri="{FF2B5EF4-FFF2-40B4-BE49-F238E27FC236}">
                <a16:creationId xmlns:a16="http://schemas.microsoft.com/office/drawing/2014/main" id="{8ED9D66A-AB4A-0371-DF4A-691566C5F259}"/>
              </a:ext>
            </a:extLst>
          </p:cNvPr>
          <p:cNvSpPr/>
          <p:nvPr/>
        </p:nvSpPr>
        <p:spPr>
          <a:xfrm>
            <a:off x="838200" y="2294021"/>
            <a:ext cx="10515600" cy="3368842"/>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7607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AEA8B-27B3-7630-D4BC-18D1DF158DF1}"/>
              </a:ext>
            </a:extLst>
          </p:cNvPr>
          <p:cNvSpPr>
            <a:spLocks noGrp="1"/>
          </p:cNvSpPr>
          <p:nvPr>
            <p:ph type="title"/>
          </p:nvPr>
        </p:nvSpPr>
        <p:spPr/>
        <p:txBody>
          <a:bodyPr/>
          <a:lstStyle/>
          <a:p>
            <a:r>
              <a:rPr lang="en-GB" dirty="0"/>
              <a:t>Create a bar plot of the iris data set cont... </a:t>
            </a:r>
          </a:p>
        </p:txBody>
      </p:sp>
      <p:sp>
        <p:nvSpPr>
          <p:cNvPr id="3" name="Content Placeholder 2">
            <a:extLst>
              <a:ext uri="{FF2B5EF4-FFF2-40B4-BE49-F238E27FC236}">
                <a16:creationId xmlns:a16="http://schemas.microsoft.com/office/drawing/2014/main" id="{19A0259D-FB89-7FD8-5F79-AA61806532E5}"/>
              </a:ext>
            </a:extLst>
          </p:cNvPr>
          <p:cNvSpPr>
            <a:spLocks noGrp="1"/>
          </p:cNvSpPr>
          <p:nvPr>
            <p:ph idx="1"/>
          </p:nvPr>
        </p:nvSpPr>
        <p:spPr/>
        <p:txBody>
          <a:bodyPr/>
          <a:lstStyle/>
          <a:p>
            <a:pPr marL="0" indent="0">
              <a:buNone/>
            </a:pPr>
            <a:r>
              <a:rPr lang="en-GB" dirty="0"/>
              <a:t># Create </a:t>
            </a:r>
            <a:r>
              <a:rPr lang="en-GB" dirty="0" err="1"/>
              <a:t>barplot</a:t>
            </a:r>
            <a:r>
              <a:rPr lang="en-GB" dirty="0"/>
              <a:t> </a:t>
            </a:r>
          </a:p>
          <a:p>
            <a:pPr marL="0" indent="0">
              <a:buNone/>
            </a:pPr>
            <a:r>
              <a:rPr lang="en-GB" dirty="0" err="1"/>
              <a:t>barplot</a:t>
            </a:r>
            <a:r>
              <a:rPr lang="en-GB" dirty="0"/>
              <a:t>(species data)</a:t>
            </a:r>
          </a:p>
        </p:txBody>
      </p:sp>
      <p:pic>
        <p:nvPicPr>
          <p:cNvPr id="5" name="Picture 4">
            <a:extLst>
              <a:ext uri="{FF2B5EF4-FFF2-40B4-BE49-F238E27FC236}">
                <a16:creationId xmlns:a16="http://schemas.microsoft.com/office/drawing/2014/main" id="{A6EF03AE-102F-DB0E-8B06-772EA2303B18}"/>
              </a:ext>
            </a:extLst>
          </p:cNvPr>
          <p:cNvPicPr>
            <a:picLocks noChangeAspect="1"/>
          </p:cNvPicPr>
          <p:nvPr/>
        </p:nvPicPr>
        <p:blipFill>
          <a:blip r:embed="rId2"/>
          <a:stretch>
            <a:fillRect/>
          </a:stretch>
        </p:blipFill>
        <p:spPr>
          <a:xfrm>
            <a:off x="2719387" y="3062287"/>
            <a:ext cx="6753225" cy="2771775"/>
          </a:xfrm>
          <a:prstGeom prst="rect">
            <a:avLst/>
          </a:prstGeom>
        </p:spPr>
      </p:pic>
    </p:spTree>
    <p:extLst>
      <p:ext uri="{BB962C8B-B14F-4D97-AF65-F5344CB8AC3E}">
        <p14:creationId xmlns:p14="http://schemas.microsoft.com/office/powerpoint/2010/main" val="1069113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BB26-224B-738F-A950-BD5756C5C60F}"/>
              </a:ext>
            </a:extLst>
          </p:cNvPr>
          <p:cNvSpPr>
            <a:spLocks noGrp="1"/>
          </p:cNvSpPr>
          <p:nvPr>
            <p:ph type="title"/>
          </p:nvPr>
        </p:nvSpPr>
        <p:spPr/>
        <p:txBody>
          <a:bodyPr/>
          <a:lstStyle/>
          <a:p>
            <a:r>
              <a:rPr lang="en-GB" dirty="0"/>
              <a:t>Create a bar plot of the iris data set cont... </a:t>
            </a:r>
          </a:p>
        </p:txBody>
      </p:sp>
      <p:sp>
        <p:nvSpPr>
          <p:cNvPr id="3" name="Content Placeholder 2">
            <a:extLst>
              <a:ext uri="{FF2B5EF4-FFF2-40B4-BE49-F238E27FC236}">
                <a16:creationId xmlns:a16="http://schemas.microsoft.com/office/drawing/2014/main" id="{A1E291CF-84DE-9273-F696-759F4C62F817}"/>
              </a:ext>
            </a:extLst>
          </p:cNvPr>
          <p:cNvSpPr>
            <a:spLocks noGrp="1"/>
          </p:cNvSpPr>
          <p:nvPr>
            <p:ph idx="1"/>
          </p:nvPr>
        </p:nvSpPr>
        <p:spPr/>
        <p:txBody>
          <a:bodyPr/>
          <a:lstStyle/>
          <a:p>
            <a:pPr marL="0" indent="0">
              <a:buNone/>
            </a:pPr>
            <a:endParaRPr lang="en-GB" dirty="0"/>
          </a:p>
          <a:p>
            <a:pPr marL="0" indent="0">
              <a:buNone/>
            </a:pPr>
            <a:r>
              <a:rPr lang="en-GB" dirty="0"/>
              <a:t>The plot on the previous slide is a bit boring. There are a number of problems with this plot. </a:t>
            </a:r>
          </a:p>
          <a:p>
            <a:r>
              <a:rPr lang="en-GB" dirty="0"/>
              <a:t>there are no axis labels on the x and y axis </a:t>
            </a:r>
          </a:p>
          <a:p>
            <a:r>
              <a:rPr lang="en-GB" dirty="0"/>
              <a:t>the scale on the y axis is not informative</a:t>
            </a:r>
          </a:p>
        </p:txBody>
      </p:sp>
    </p:spTree>
    <p:extLst>
      <p:ext uri="{BB962C8B-B14F-4D97-AF65-F5344CB8AC3E}">
        <p14:creationId xmlns:p14="http://schemas.microsoft.com/office/powerpoint/2010/main" val="1025658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57EF6-D106-6FE8-5EB1-35E470947E14}"/>
              </a:ext>
            </a:extLst>
          </p:cNvPr>
          <p:cNvSpPr>
            <a:spLocks noGrp="1"/>
          </p:cNvSpPr>
          <p:nvPr>
            <p:ph type="title"/>
          </p:nvPr>
        </p:nvSpPr>
        <p:spPr/>
        <p:txBody>
          <a:bodyPr/>
          <a:lstStyle/>
          <a:p>
            <a:r>
              <a:rPr lang="en-GB" dirty="0"/>
              <a:t>Add axis labels to a plot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ACB426C-45CF-0288-400E-055179835FA2}"/>
                  </a:ext>
                </a:extLst>
              </p:cNvPr>
              <p:cNvSpPr>
                <a:spLocks noGrp="1"/>
              </p:cNvSpPr>
              <p:nvPr>
                <p:ph idx="1"/>
              </p:nvPr>
            </p:nvSpPr>
            <p:spPr/>
            <p:txBody>
              <a:bodyPr/>
              <a:lstStyle/>
              <a:p>
                <a:pPr marL="0" indent="0">
                  <a:buNone/>
                </a:pPr>
                <a:r>
                  <a:rPr lang="en-GB" dirty="0"/>
                  <a:t>We use the command </a:t>
                </a:r>
                <a:r>
                  <a:rPr lang="en-GB" b="1" dirty="0" err="1">
                    <a:latin typeface="Courier New" panose="02070309020205020404" pitchFamily="49" charset="0"/>
                    <a:cs typeface="Courier New" panose="02070309020205020404" pitchFamily="49" charset="0"/>
                  </a:rPr>
                  <a:t>xlab</a:t>
                </a:r>
                <a:r>
                  <a:rPr lang="en-GB" dirty="0"/>
                  <a:t> and </a:t>
                </a:r>
                <a:r>
                  <a:rPr lang="en-GB" b="1" dirty="0" err="1">
                    <a:latin typeface="Courier New" panose="02070309020205020404" pitchFamily="49" charset="0"/>
                    <a:cs typeface="Courier New" panose="02070309020205020404" pitchFamily="49" charset="0"/>
                  </a:rPr>
                  <a:t>ylab</a:t>
                </a:r>
                <a:r>
                  <a:rPr lang="en-GB" dirty="0"/>
                  <a:t> to add </a:t>
                </a:r>
                <a14:m>
                  <m:oMath xmlns:m="http://schemas.openxmlformats.org/officeDocument/2006/math">
                    <m:r>
                      <a:rPr lang="en-GB" i="1" dirty="0" smtClean="0">
                        <a:latin typeface="Cambria Math" panose="02040503050406030204" pitchFamily="18" charset="0"/>
                      </a:rPr>
                      <m:t>𝑥</m:t>
                    </m:r>
                  </m:oMath>
                </a14:m>
                <a:r>
                  <a:rPr lang="en-GB" dirty="0"/>
                  <a:t> and </a:t>
                </a:r>
                <a14:m>
                  <m:oMath xmlns:m="http://schemas.openxmlformats.org/officeDocument/2006/math">
                    <m:r>
                      <a:rPr lang="en-GB" i="1" dirty="0" smtClean="0">
                        <a:latin typeface="Cambria Math" panose="02040503050406030204" pitchFamily="18" charset="0"/>
                      </a:rPr>
                      <m:t>𝑦</m:t>
                    </m:r>
                  </m:oMath>
                </a14:m>
                <a:r>
                  <a:rPr lang="en-GB" dirty="0"/>
                  <a:t> labels to a plot. After the command we put the label name in speech marks. </a:t>
                </a:r>
              </a:p>
              <a:p>
                <a:pPr marL="0" indent="0">
                  <a:buNone/>
                </a:pPr>
                <a:endParaRPr lang="en-GB" sz="1800" dirty="0"/>
              </a:p>
              <a:p>
                <a:pPr marL="0" indent="0">
                  <a:buNone/>
                </a:pPr>
                <a:r>
                  <a:rPr lang="en-GB" b="1" dirty="0">
                    <a:solidFill>
                      <a:schemeClr val="accent6"/>
                    </a:solidFill>
                    <a:latin typeface="Courier New" panose="02070309020205020404" pitchFamily="49" charset="0"/>
                    <a:cs typeface="Courier New" panose="02070309020205020404" pitchFamily="49" charset="0"/>
                  </a:rPr>
                  <a:t>#add axis labels </a:t>
                </a:r>
              </a:p>
              <a:p>
                <a:pPr marL="0" indent="0">
                  <a:buNone/>
                </a:pPr>
                <a:r>
                  <a:rPr lang="en-GB" b="1" dirty="0" err="1">
                    <a:latin typeface="Courier New" panose="02070309020205020404" pitchFamily="49" charset="0"/>
                    <a:cs typeface="Courier New" panose="02070309020205020404" pitchFamily="49" charset="0"/>
                  </a:rPr>
                  <a:t>barplot</a:t>
                </a:r>
                <a:r>
                  <a:rPr lang="en-GB" b="1" dirty="0">
                    <a:latin typeface="Courier New" panose="02070309020205020404" pitchFamily="49" charset="0"/>
                    <a:cs typeface="Courier New" panose="02070309020205020404" pitchFamily="49" charset="0"/>
                  </a:rPr>
                  <a:t>(species </a:t>
                </a:r>
                <a:r>
                  <a:rPr lang="en-GB" b="1" dirty="0" err="1">
                    <a:latin typeface="Courier New" panose="02070309020205020404" pitchFamily="49" charset="0"/>
                    <a:cs typeface="Courier New" panose="02070309020205020404" pitchFamily="49" charset="0"/>
                  </a:rPr>
                  <a:t>data,xlab</a:t>
                </a:r>
                <a:r>
                  <a:rPr lang="en-GB" b="1" dirty="0">
                    <a:latin typeface="Courier New" panose="02070309020205020404" pitchFamily="49" charset="0"/>
                    <a:cs typeface="Courier New" panose="02070309020205020404" pitchFamily="49" charset="0"/>
                  </a:rPr>
                  <a:t>="species of iris", 			</a:t>
                </a:r>
                <a:r>
                  <a:rPr lang="en-GB" b="1" dirty="0" err="1">
                    <a:latin typeface="Courier New" panose="02070309020205020404" pitchFamily="49" charset="0"/>
                    <a:cs typeface="Courier New" panose="02070309020205020404" pitchFamily="49" charset="0"/>
                  </a:rPr>
                  <a:t>ylab</a:t>
                </a:r>
                <a:r>
                  <a:rPr lang="en-GB" b="1" dirty="0">
                    <a:latin typeface="Courier New" panose="02070309020205020404" pitchFamily="49" charset="0"/>
                    <a:cs typeface="Courier New" panose="02070309020205020404" pitchFamily="49" charset="0"/>
                  </a:rPr>
                  <a:t>="frequency")</a:t>
                </a:r>
                <a:r>
                  <a:rPr lang="en-GB" dirty="0"/>
                  <a:t> </a:t>
                </a:r>
              </a:p>
              <a:p>
                <a:pPr marL="0" indent="0">
                  <a:buNone/>
                </a:pPr>
                <a:endParaRPr lang="en-GB" sz="1800" dirty="0"/>
              </a:p>
              <a:p>
                <a:pPr marL="0" indent="0">
                  <a:buNone/>
                </a:pPr>
                <a:r>
                  <a:rPr lang="en-GB" dirty="0"/>
                  <a:t>You can see that we just add these additional arguments to our </a:t>
                </a:r>
                <a:r>
                  <a:rPr lang="en-GB" dirty="0" err="1"/>
                  <a:t>barplot</a:t>
                </a:r>
                <a:r>
                  <a:rPr lang="en-GB" dirty="0"/>
                  <a:t> command and separate each command with a comma.</a:t>
                </a:r>
              </a:p>
            </p:txBody>
          </p:sp>
        </mc:Choice>
        <mc:Fallback>
          <p:sp>
            <p:nvSpPr>
              <p:cNvPr id="3" name="Content Placeholder 2">
                <a:extLst>
                  <a:ext uri="{FF2B5EF4-FFF2-40B4-BE49-F238E27FC236}">
                    <a16:creationId xmlns:a16="http://schemas.microsoft.com/office/drawing/2014/main" id="{AACB426C-45CF-0288-400E-055179835FA2}"/>
                  </a:ext>
                </a:extLst>
              </p:cNvPr>
              <p:cNvSpPr>
                <a:spLocks noGrp="1" noRot="1" noChangeAspect="1" noMove="1" noResize="1" noEditPoints="1" noAdjustHandles="1" noChangeArrowheads="1" noChangeShapeType="1" noTextEdit="1"/>
              </p:cNvSpPr>
              <p:nvPr>
                <p:ph idx="1"/>
              </p:nvPr>
            </p:nvSpPr>
            <p:spPr>
              <a:blipFill>
                <a:blip r:embed="rId2"/>
                <a:stretch>
                  <a:fillRect l="-1217" t="-2381" r="-174"/>
                </a:stretch>
              </a:blipFill>
            </p:spPr>
            <p:txBody>
              <a:bodyPr/>
              <a:lstStyle/>
              <a:p>
                <a:r>
                  <a:rPr lang="en-GB">
                    <a:noFill/>
                  </a:rPr>
                  <a:t> </a:t>
                </a:r>
              </a:p>
            </p:txBody>
          </p:sp>
        </mc:Fallback>
      </mc:AlternateContent>
    </p:spTree>
    <p:extLst>
      <p:ext uri="{BB962C8B-B14F-4D97-AF65-F5344CB8AC3E}">
        <p14:creationId xmlns:p14="http://schemas.microsoft.com/office/powerpoint/2010/main" val="1678214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16947-7F97-6F8B-F40D-5AD98C8A4B19}"/>
              </a:ext>
            </a:extLst>
          </p:cNvPr>
          <p:cNvSpPr>
            <a:spLocks noGrp="1"/>
          </p:cNvSpPr>
          <p:nvPr>
            <p:ph type="title"/>
          </p:nvPr>
        </p:nvSpPr>
        <p:spPr/>
        <p:txBody>
          <a:bodyPr/>
          <a:lstStyle/>
          <a:p>
            <a:r>
              <a:rPr lang="en-GB" dirty="0"/>
              <a:t>Add axis labels to a plot cont... </a:t>
            </a:r>
          </a:p>
        </p:txBody>
      </p:sp>
      <p:pic>
        <p:nvPicPr>
          <p:cNvPr id="5" name="Content Placeholder 4">
            <a:extLst>
              <a:ext uri="{FF2B5EF4-FFF2-40B4-BE49-F238E27FC236}">
                <a16:creationId xmlns:a16="http://schemas.microsoft.com/office/drawing/2014/main" id="{76DC2361-0B8A-0225-C507-A02BB97D636A}"/>
              </a:ext>
            </a:extLst>
          </p:cNvPr>
          <p:cNvPicPr>
            <a:picLocks noGrp="1" noChangeAspect="1"/>
          </p:cNvPicPr>
          <p:nvPr>
            <p:ph idx="1"/>
          </p:nvPr>
        </p:nvPicPr>
        <p:blipFill>
          <a:blip r:embed="rId2"/>
          <a:stretch>
            <a:fillRect/>
          </a:stretch>
        </p:blipFill>
        <p:spPr>
          <a:xfrm>
            <a:off x="2371725" y="2220119"/>
            <a:ext cx="7448550" cy="3562350"/>
          </a:xfrm>
        </p:spPr>
      </p:pic>
    </p:spTree>
    <p:extLst>
      <p:ext uri="{BB962C8B-B14F-4D97-AF65-F5344CB8AC3E}">
        <p14:creationId xmlns:p14="http://schemas.microsoft.com/office/powerpoint/2010/main" val="2594490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1D050-C8BB-6301-3989-276B4FFB67DB}"/>
              </a:ext>
            </a:extLst>
          </p:cNvPr>
          <p:cNvSpPr>
            <a:spLocks noGrp="1"/>
          </p:cNvSpPr>
          <p:nvPr>
            <p:ph type="title"/>
          </p:nvPr>
        </p:nvSpPr>
        <p:spPr/>
        <p:txBody>
          <a:bodyPr/>
          <a:lstStyle/>
          <a:p>
            <a:r>
              <a:rPr lang="en-GB" dirty="0"/>
              <a:t>Extending the y axis </a:t>
            </a:r>
          </a:p>
        </p:txBody>
      </p:sp>
      <p:sp>
        <p:nvSpPr>
          <p:cNvPr id="3" name="Content Placeholder 2">
            <a:extLst>
              <a:ext uri="{FF2B5EF4-FFF2-40B4-BE49-F238E27FC236}">
                <a16:creationId xmlns:a16="http://schemas.microsoft.com/office/drawing/2014/main" id="{B24DF56F-5435-FFC7-5199-13477E74306E}"/>
              </a:ext>
            </a:extLst>
          </p:cNvPr>
          <p:cNvSpPr>
            <a:spLocks noGrp="1"/>
          </p:cNvSpPr>
          <p:nvPr>
            <p:ph idx="1"/>
          </p:nvPr>
        </p:nvSpPr>
        <p:spPr/>
        <p:txBody>
          <a:bodyPr>
            <a:normAutofit lnSpcReduction="10000"/>
          </a:bodyPr>
          <a:lstStyle/>
          <a:p>
            <a:pPr marL="0" indent="0">
              <a:buNone/>
            </a:pPr>
            <a:r>
              <a:rPr lang="en-GB" dirty="0"/>
              <a:t>We use the command </a:t>
            </a:r>
            <a:r>
              <a:rPr lang="en-GB" dirty="0" err="1"/>
              <a:t>ylim</a:t>
            </a:r>
            <a:r>
              <a:rPr lang="en-GB" dirty="0"/>
              <a:t> to extend the y axis of our plot. The </a:t>
            </a:r>
            <a:r>
              <a:rPr lang="en-GB" dirty="0" err="1"/>
              <a:t>ylim</a:t>
            </a:r>
            <a:r>
              <a:rPr lang="en-GB" dirty="0"/>
              <a:t> function takes in a vector so we will need to use our c notation. The vector contains 2 numbers, the first is where you want the y-axis to start at (generally this is 0). The second number is the upper limit, always add a bit extra on to this value. Recall our maximum number of observations is 50, so we will make our second number in the vector 60. </a:t>
            </a:r>
          </a:p>
          <a:p>
            <a:pPr marL="0" indent="0">
              <a:buNone/>
            </a:pPr>
            <a:endParaRPr lang="en-GB" dirty="0"/>
          </a:p>
          <a:p>
            <a:pPr marL="457200" lvl="1" indent="0">
              <a:buNone/>
            </a:pPr>
            <a:r>
              <a:rPr lang="en-GB" sz="2800" b="1" dirty="0">
                <a:solidFill>
                  <a:schemeClr val="accent6"/>
                </a:solidFill>
                <a:latin typeface="Courier New" panose="02070309020205020404" pitchFamily="49" charset="0"/>
                <a:cs typeface="Courier New" panose="02070309020205020404" pitchFamily="49" charset="0"/>
              </a:rPr>
              <a:t>#extend y-axis</a:t>
            </a:r>
            <a:r>
              <a:rPr lang="en-GB" sz="2800" b="1" dirty="0">
                <a:latin typeface="Courier New" panose="02070309020205020404" pitchFamily="49" charset="0"/>
                <a:cs typeface="Courier New" panose="02070309020205020404" pitchFamily="49" charset="0"/>
              </a:rPr>
              <a:t> </a:t>
            </a:r>
          </a:p>
          <a:p>
            <a:pPr marL="457200" lvl="1" indent="0">
              <a:buNone/>
            </a:pPr>
            <a:r>
              <a:rPr lang="en-GB" sz="2800" b="1" dirty="0" err="1">
                <a:latin typeface="Courier New" panose="02070309020205020404" pitchFamily="49" charset="0"/>
                <a:cs typeface="Courier New" panose="02070309020205020404" pitchFamily="49" charset="0"/>
              </a:rPr>
              <a:t>barplot</a:t>
            </a:r>
            <a:r>
              <a:rPr lang="en-GB" sz="2800" b="1" dirty="0">
                <a:latin typeface="Courier New" panose="02070309020205020404" pitchFamily="49" charset="0"/>
                <a:cs typeface="Courier New" panose="02070309020205020404" pitchFamily="49" charset="0"/>
              </a:rPr>
              <a:t>(species </a:t>
            </a:r>
            <a:r>
              <a:rPr lang="en-GB" sz="2800" b="1" dirty="0" err="1">
                <a:latin typeface="Courier New" panose="02070309020205020404" pitchFamily="49" charset="0"/>
                <a:cs typeface="Courier New" panose="02070309020205020404" pitchFamily="49" charset="0"/>
              </a:rPr>
              <a:t>data,xlab</a:t>
            </a:r>
            <a:r>
              <a:rPr lang="en-GB" sz="2800" b="1" dirty="0">
                <a:latin typeface="Courier New" panose="02070309020205020404" pitchFamily="49" charset="0"/>
                <a:cs typeface="Courier New" panose="02070309020205020404" pitchFamily="49" charset="0"/>
              </a:rPr>
              <a:t>=</a:t>
            </a:r>
            <a:r>
              <a:rPr lang="en-GB" sz="2800" b="1" dirty="0">
                <a:solidFill>
                  <a:schemeClr val="accent6"/>
                </a:solidFill>
                <a:latin typeface="Courier New" panose="02070309020205020404" pitchFamily="49" charset="0"/>
                <a:cs typeface="Courier New" panose="02070309020205020404" pitchFamily="49" charset="0"/>
              </a:rPr>
              <a:t>"species of iris"</a:t>
            </a:r>
            <a:r>
              <a:rPr lang="en-GB" sz="2800" b="1" dirty="0">
                <a:latin typeface="Courier New" panose="02070309020205020404" pitchFamily="49" charset="0"/>
                <a:cs typeface="Courier New" panose="02070309020205020404" pitchFamily="49" charset="0"/>
              </a:rPr>
              <a:t>, </a:t>
            </a:r>
            <a:r>
              <a:rPr lang="en-GB" sz="2800" b="1" dirty="0" err="1">
                <a:latin typeface="Courier New" panose="02070309020205020404" pitchFamily="49" charset="0"/>
                <a:cs typeface="Courier New" panose="02070309020205020404" pitchFamily="49" charset="0"/>
              </a:rPr>
              <a:t>ylab</a:t>
            </a:r>
            <a:r>
              <a:rPr lang="en-GB" sz="2800" b="1" dirty="0">
                <a:latin typeface="Courier New" panose="02070309020205020404" pitchFamily="49" charset="0"/>
                <a:cs typeface="Courier New" panose="02070309020205020404" pitchFamily="49" charset="0"/>
              </a:rPr>
              <a:t>=</a:t>
            </a:r>
            <a:r>
              <a:rPr lang="en-GB" sz="2800" b="1" dirty="0">
                <a:solidFill>
                  <a:schemeClr val="accent6"/>
                </a:solidFill>
                <a:latin typeface="Courier New" panose="02070309020205020404" pitchFamily="49" charset="0"/>
                <a:cs typeface="Courier New" panose="02070309020205020404" pitchFamily="49" charset="0"/>
              </a:rPr>
              <a:t>"frequency"</a:t>
            </a:r>
            <a:r>
              <a:rPr lang="en-GB" sz="2800" b="1" dirty="0">
                <a:latin typeface="Courier New" panose="02070309020205020404" pitchFamily="49" charset="0"/>
                <a:cs typeface="Courier New" panose="02070309020205020404" pitchFamily="49" charset="0"/>
              </a:rPr>
              <a:t>, </a:t>
            </a:r>
            <a:r>
              <a:rPr lang="en-GB" sz="2800" b="1" dirty="0" err="1">
                <a:latin typeface="Courier New" panose="02070309020205020404" pitchFamily="49" charset="0"/>
                <a:cs typeface="Courier New" panose="02070309020205020404" pitchFamily="49" charset="0"/>
              </a:rPr>
              <a:t>ylim</a:t>
            </a:r>
            <a:r>
              <a:rPr lang="en-GB" sz="2800" b="1" dirty="0">
                <a:latin typeface="Courier New" panose="02070309020205020404" pitchFamily="49" charset="0"/>
                <a:cs typeface="Courier New" panose="02070309020205020404" pitchFamily="49" charset="0"/>
              </a:rPr>
              <a:t>=c(</a:t>
            </a:r>
            <a:r>
              <a:rPr lang="en-GB" sz="2800" b="1" dirty="0">
                <a:solidFill>
                  <a:schemeClr val="accent1"/>
                </a:solidFill>
                <a:latin typeface="Courier New" panose="02070309020205020404" pitchFamily="49" charset="0"/>
                <a:cs typeface="Courier New" panose="02070309020205020404" pitchFamily="49" charset="0"/>
              </a:rPr>
              <a:t>0</a:t>
            </a:r>
            <a:r>
              <a:rPr lang="en-GB" sz="2800" b="1" dirty="0">
                <a:latin typeface="Courier New" panose="02070309020205020404" pitchFamily="49" charset="0"/>
                <a:cs typeface="Courier New" panose="02070309020205020404" pitchFamily="49" charset="0"/>
              </a:rPr>
              <a:t>,</a:t>
            </a:r>
            <a:r>
              <a:rPr lang="en-GB" sz="2800" b="1" dirty="0">
                <a:solidFill>
                  <a:schemeClr val="accent1"/>
                </a:solidFill>
                <a:latin typeface="Courier New" panose="02070309020205020404" pitchFamily="49" charset="0"/>
                <a:cs typeface="Courier New" panose="02070309020205020404" pitchFamily="49" charset="0"/>
              </a:rPr>
              <a:t>60</a:t>
            </a:r>
            <a:r>
              <a:rPr lang="en-GB" sz="2800" b="1" dirty="0">
                <a:latin typeface="Courier New" panose="02070309020205020404" pitchFamily="49" charset="0"/>
                <a:cs typeface="Courier New" panose="02070309020205020404" pitchFamily="49" charset="0"/>
              </a:rPr>
              <a:t>))</a:t>
            </a:r>
            <a:endParaRPr lang="en-GB"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18162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4E8CC-5D47-92AD-365A-58FD92949021}"/>
              </a:ext>
            </a:extLst>
          </p:cNvPr>
          <p:cNvSpPr>
            <a:spLocks noGrp="1"/>
          </p:cNvSpPr>
          <p:nvPr>
            <p:ph type="title"/>
          </p:nvPr>
        </p:nvSpPr>
        <p:spPr/>
        <p:txBody>
          <a:bodyPr/>
          <a:lstStyle/>
          <a:p>
            <a:r>
              <a:rPr lang="en-GB" dirty="0"/>
              <a:t>Extending the y axis cont... </a:t>
            </a:r>
          </a:p>
        </p:txBody>
      </p:sp>
      <p:pic>
        <p:nvPicPr>
          <p:cNvPr id="5" name="Content Placeholder 4">
            <a:extLst>
              <a:ext uri="{FF2B5EF4-FFF2-40B4-BE49-F238E27FC236}">
                <a16:creationId xmlns:a16="http://schemas.microsoft.com/office/drawing/2014/main" id="{D7B636F8-AAA8-B594-2C66-A38434ECF214}"/>
              </a:ext>
            </a:extLst>
          </p:cNvPr>
          <p:cNvPicPr>
            <a:picLocks noGrp="1" noChangeAspect="1"/>
          </p:cNvPicPr>
          <p:nvPr>
            <p:ph idx="1"/>
          </p:nvPr>
        </p:nvPicPr>
        <p:blipFill>
          <a:blip r:embed="rId2"/>
          <a:stretch>
            <a:fillRect/>
          </a:stretch>
        </p:blipFill>
        <p:spPr>
          <a:xfrm>
            <a:off x="2357437" y="2210594"/>
            <a:ext cx="7477125" cy="3581400"/>
          </a:xfrm>
        </p:spPr>
      </p:pic>
    </p:spTree>
    <p:extLst>
      <p:ext uri="{BB962C8B-B14F-4D97-AF65-F5344CB8AC3E}">
        <p14:creationId xmlns:p14="http://schemas.microsoft.com/office/powerpoint/2010/main" val="1586373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A76BD-EA8B-F9AB-BEDE-AB0D3B7CAC2A}"/>
              </a:ext>
            </a:extLst>
          </p:cNvPr>
          <p:cNvSpPr>
            <a:spLocks noGrp="1"/>
          </p:cNvSpPr>
          <p:nvPr>
            <p:ph type="title"/>
          </p:nvPr>
        </p:nvSpPr>
        <p:spPr/>
        <p:txBody>
          <a:bodyPr/>
          <a:lstStyle/>
          <a:p>
            <a:r>
              <a:rPr lang="en-GB" dirty="0"/>
              <a:t>Let’s add some colour </a:t>
            </a:r>
          </a:p>
        </p:txBody>
      </p:sp>
      <p:sp>
        <p:nvSpPr>
          <p:cNvPr id="3" name="Content Placeholder 2">
            <a:extLst>
              <a:ext uri="{FF2B5EF4-FFF2-40B4-BE49-F238E27FC236}">
                <a16:creationId xmlns:a16="http://schemas.microsoft.com/office/drawing/2014/main" id="{E4CC2936-D7AC-5BE7-B785-9AB2217657EE}"/>
              </a:ext>
            </a:extLst>
          </p:cNvPr>
          <p:cNvSpPr>
            <a:spLocks noGrp="1"/>
          </p:cNvSpPr>
          <p:nvPr>
            <p:ph idx="1"/>
          </p:nvPr>
        </p:nvSpPr>
        <p:spPr/>
        <p:txBody>
          <a:bodyPr/>
          <a:lstStyle/>
          <a:p>
            <a:pPr marL="0" indent="0">
              <a:buNone/>
            </a:pPr>
            <a:r>
              <a:rPr lang="en-GB" dirty="0"/>
              <a:t>The chart is a boring with just grey bars, let’s shade those in. R has lots of predefined colours. We use the col function e.g. col="blue". This means that all the bars will be blue. </a:t>
            </a:r>
          </a:p>
          <a:p>
            <a:pPr marL="0" indent="0">
              <a:buNone/>
            </a:pPr>
            <a:endParaRPr lang="en-GB" dirty="0"/>
          </a:p>
          <a:p>
            <a:pPr marL="457200" lvl="1" indent="0">
              <a:buNone/>
            </a:pPr>
            <a:r>
              <a:rPr lang="en-GB" sz="2800" b="1" dirty="0">
                <a:solidFill>
                  <a:schemeClr val="accent6"/>
                </a:solidFill>
                <a:latin typeface="Courier New" panose="02070309020205020404" pitchFamily="49" charset="0"/>
                <a:cs typeface="Courier New" panose="02070309020205020404" pitchFamily="49" charset="0"/>
              </a:rPr>
              <a:t>#colour each bar blue</a:t>
            </a:r>
            <a:r>
              <a:rPr lang="en-GB" sz="2800" b="1" dirty="0">
                <a:latin typeface="Courier New" panose="02070309020205020404" pitchFamily="49" charset="0"/>
                <a:cs typeface="Courier New" panose="02070309020205020404" pitchFamily="49" charset="0"/>
              </a:rPr>
              <a:t> </a:t>
            </a:r>
          </a:p>
          <a:p>
            <a:pPr marL="457200" lvl="1" indent="0">
              <a:buNone/>
            </a:pPr>
            <a:r>
              <a:rPr lang="en-GB" sz="2800" b="1" dirty="0" err="1">
                <a:latin typeface="Courier New" panose="02070309020205020404" pitchFamily="49" charset="0"/>
                <a:cs typeface="Courier New" panose="02070309020205020404" pitchFamily="49" charset="0"/>
              </a:rPr>
              <a:t>barplot</a:t>
            </a:r>
            <a:r>
              <a:rPr lang="en-GB" sz="2800" b="1" dirty="0">
                <a:latin typeface="Courier New" panose="02070309020205020404" pitchFamily="49" charset="0"/>
                <a:cs typeface="Courier New" panose="02070309020205020404" pitchFamily="49" charset="0"/>
              </a:rPr>
              <a:t>(species </a:t>
            </a:r>
            <a:r>
              <a:rPr lang="en-GB" sz="2800" b="1" dirty="0" err="1">
                <a:latin typeface="Courier New" panose="02070309020205020404" pitchFamily="49" charset="0"/>
                <a:cs typeface="Courier New" panose="02070309020205020404" pitchFamily="49" charset="0"/>
              </a:rPr>
              <a:t>data,xlab</a:t>
            </a:r>
            <a:r>
              <a:rPr lang="en-GB" sz="2800" b="1" dirty="0">
                <a:latin typeface="Courier New" panose="02070309020205020404" pitchFamily="49" charset="0"/>
                <a:cs typeface="Courier New" panose="02070309020205020404" pitchFamily="49" charset="0"/>
              </a:rPr>
              <a:t>=</a:t>
            </a:r>
            <a:r>
              <a:rPr lang="en-GB" sz="2800" b="1" dirty="0">
                <a:solidFill>
                  <a:schemeClr val="accent6"/>
                </a:solidFill>
                <a:latin typeface="Courier New" panose="02070309020205020404" pitchFamily="49" charset="0"/>
                <a:cs typeface="Courier New" panose="02070309020205020404" pitchFamily="49" charset="0"/>
              </a:rPr>
              <a:t>"species of iris"</a:t>
            </a:r>
            <a:r>
              <a:rPr lang="en-GB" sz="2800" b="1" dirty="0">
                <a:latin typeface="Courier New" panose="02070309020205020404" pitchFamily="49" charset="0"/>
                <a:cs typeface="Courier New" panose="02070309020205020404" pitchFamily="49" charset="0"/>
              </a:rPr>
              <a:t>, </a:t>
            </a:r>
            <a:r>
              <a:rPr lang="en-GB" sz="2800" b="1" dirty="0" err="1">
                <a:latin typeface="Courier New" panose="02070309020205020404" pitchFamily="49" charset="0"/>
                <a:cs typeface="Courier New" panose="02070309020205020404" pitchFamily="49" charset="0"/>
              </a:rPr>
              <a:t>ylab</a:t>
            </a:r>
            <a:r>
              <a:rPr lang="en-GB" sz="2800" b="1" dirty="0">
                <a:latin typeface="Courier New" panose="02070309020205020404" pitchFamily="49" charset="0"/>
                <a:cs typeface="Courier New" panose="02070309020205020404" pitchFamily="49" charset="0"/>
              </a:rPr>
              <a:t>=</a:t>
            </a:r>
            <a:r>
              <a:rPr lang="en-GB" sz="2800" b="1" dirty="0">
                <a:solidFill>
                  <a:schemeClr val="accent6"/>
                </a:solidFill>
                <a:latin typeface="Courier New" panose="02070309020205020404" pitchFamily="49" charset="0"/>
                <a:cs typeface="Courier New" panose="02070309020205020404" pitchFamily="49" charset="0"/>
              </a:rPr>
              <a:t>"frequency"</a:t>
            </a:r>
            <a:r>
              <a:rPr lang="en-GB" sz="2800" b="1" dirty="0">
                <a:latin typeface="Courier New" panose="02070309020205020404" pitchFamily="49" charset="0"/>
                <a:cs typeface="Courier New" panose="02070309020205020404" pitchFamily="49" charset="0"/>
              </a:rPr>
              <a:t>, </a:t>
            </a:r>
            <a:r>
              <a:rPr lang="en-GB" sz="2800" b="1" dirty="0" err="1">
                <a:latin typeface="Courier New" panose="02070309020205020404" pitchFamily="49" charset="0"/>
                <a:cs typeface="Courier New" panose="02070309020205020404" pitchFamily="49" charset="0"/>
              </a:rPr>
              <a:t>ylim</a:t>
            </a:r>
            <a:r>
              <a:rPr lang="en-GB" sz="2800" b="1" dirty="0">
                <a:latin typeface="Courier New" panose="02070309020205020404" pitchFamily="49" charset="0"/>
                <a:cs typeface="Courier New" panose="02070309020205020404" pitchFamily="49" charset="0"/>
              </a:rPr>
              <a:t>=c(</a:t>
            </a:r>
            <a:r>
              <a:rPr lang="en-GB" sz="2800" b="1" dirty="0">
                <a:solidFill>
                  <a:schemeClr val="accent1"/>
                </a:solidFill>
                <a:latin typeface="Courier New" panose="02070309020205020404" pitchFamily="49" charset="0"/>
                <a:cs typeface="Courier New" panose="02070309020205020404" pitchFamily="49" charset="0"/>
              </a:rPr>
              <a:t>0</a:t>
            </a:r>
            <a:r>
              <a:rPr lang="en-GB" sz="2800" b="1" dirty="0">
                <a:latin typeface="Courier New" panose="02070309020205020404" pitchFamily="49" charset="0"/>
                <a:cs typeface="Courier New" panose="02070309020205020404" pitchFamily="49" charset="0"/>
              </a:rPr>
              <a:t>,</a:t>
            </a:r>
            <a:r>
              <a:rPr lang="en-GB" sz="2800" b="1" dirty="0">
                <a:solidFill>
                  <a:schemeClr val="accent1"/>
                </a:solidFill>
                <a:latin typeface="Courier New" panose="02070309020205020404" pitchFamily="49" charset="0"/>
                <a:cs typeface="Courier New" panose="02070309020205020404" pitchFamily="49" charset="0"/>
              </a:rPr>
              <a:t>60</a:t>
            </a:r>
            <a:r>
              <a:rPr lang="en-GB" sz="2800" b="1" dirty="0">
                <a:latin typeface="Courier New" panose="02070309020205020404" pitchFamily="49" charset="0"/>
                <a:cs typeface="Courier New" panose="02070309020205020404" pitchFamily="49" charset="0"/>
              </a:rPr>
              <a:t>), col=</a:t>
            </a:r>
            <a:r>
              <a:rPr lang="en-GB" sz="2800" b="1" dirty="0">
                <a:solidFill>
                  <a:schemeClr val="accent6"/>
                </a:solidFill>
                <a:latin typeface="Courier New" panose="02070309020205020404" pitchFamily="49" charset="0"/>
                <a:cs typeface="Courier New" panose="02070309020205020404" pitchFamily="49" charset="0"/>
              </a:rPr>
              <a:t>"blue"</a:t>
            </a:r>
            <a:r>
              <a:rPr lang="en-GB" sz="2800" b="1" dirty="0">
                <a:latin typeface="Courier New" panose="02070309020205020404" pitchFamily="49" charset="0"/>
                <a:cs typeface="Courier New" panose="02070309020205020404" pitchFamily="49" charset="0"/>
              </a:rPr>
              <a:t>)</a:t>
            </a:r>
            <a:endParaRPr lang="en-GB"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67028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A071B-1F5A-253F-6405-0EC22B49DF53}"/>
              </a:ext>
            </a:extLst>
          </p:cNvPr>
          <p:cNvSpPr>
            <a:spLocks noGrp="1"/>
          </p:cNvSpPr>
          <p:nvPr>
            <p:ph type="title"/>
          </p:nvPr>
        </p:nvSpPr>
        <p:spPr/>
        <p:txBody>
          <a:bodyPr/>
          <a:lstStyle/>
          <a:p>
            <a:r>
              <a:rPr lang="en-GB" dirty="0"/>
              <a:t>Let’s add some colour cont... </a:t>
            </a:r>
          </a:p>
        </p:txBody>
      </p:sp>
      <p:pic>
        <p:nvPicPr>
          <p:cNvPr id="5" name="Content Placeholder 4">
            <a:extLst>
              <a:ext uri="{FF2B5EF4-FFF2-40B4-BE49-F238E27FC236}">
                <a16:creationId xmlns:a16="http://schemas.microsoft.com/office/drawing/2014/main" id="{E8DAFBA5-CCA0-9252-99DD-B573EAAF6DA4}"/>
              </a:ext>
            </a:extLst>
          </p:cNvPr>
          <p:cNvPicPr>
            <a:picLocks noGrp="1" noChangeAspect="1"/>
          </p:cNvPicPr>
          <p:nvPr>
            <p:ph idx="1"/>
          </p:nvPr>
        </p:nvPicPr>
        <p:blipFill>
          <a:blip r:embed="rId2"/>
          <a:stretch>
            <a:fillRect/>
          </a:stretch>
        </p:blipFill>
        <p:spPr>
          <a:xfrm>
            <a:off x="2314575" y="2243931"/>
            <a:ext cx="7562850" cy="3514725"/>
          </a:xfrm>
        </p:spPr>
      </p:pic>
    </p:spTree>
    <p:extLst>
      <p:ext uri="{BB962C8B-B14F-4D97-AF65-F5344CB8AC3E}">
        <p14:creationId xmlns:p14="http://schemas.microsoft.com/office/powerpoint/2010/main" val="1042438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57EF6-D106-6FE8-5EB1-35E470947E14}"/>
              </a:ext>
            </a:extLst>
          </p:cNvPr>
          <p:cNvSpPr>
            <a:spLocks noGrp="1"/>
          </p:cNvSpPr>
          <p:nvPr>
            <p:ph type="title"/>
          </p:nvPr>
        </p:nvSpPr>
        <p:spPr/>
        <p:txBody>
          <a:bodyPr/>
          <a:lstStyle/>
          <a:p>
            <a:r>
              <a:rPr lang="en-GB" dirty="0"/>
              <a:t>Let’s add some colour cont... </a:t>
            </a:r>
          </a:p>
        </p:txBody>
      </p:sp>
      <p:sp>
        <p:nvSpPr>
          <p:cNvPr id="3" name="Content Placeholder 2">
            <a:extLst>
              <a:ext uri="{FF2B5EF4-FFF2-40B4-BE49-F238E27FC236}">
                <a16:creationId xmlns:a16="http://schemas.microsoft.com/office/drawing/2014/main" id="{AACB426C-45CF-0288-400E-055179835FA2}"/>
              </a:ext>
            </a:extLst>
          </p:cNvPr>
          <p:cNvSpPr>
            <a:spLocks noGrp="1"/>
          </p:cNvSpPr>
          <p:nvPr>
            <p:ph idx="1"/>
          </p:nvPr>
        </p:nvSpPr>
        <p:spPr/>
        <p:txBody>
          <a:bodyPr/>
          <a:lstStyle/>
          <a:p>
            <a:pPr marL="0" indent="0">
              <a:buNone/>
            </a:pPr>
            <a:r>
              <a:rPr lang="en-GB" dirty="0"/>
              <a:t>If you want each bar to be a different colour, then just list the colours that you want in order. The number of colours in your list needs to match the number of bars. We have 3 bars so need to define three colours. </a:t>
            </a:r>
          </a:p>
          <a:p>
            <a:pPr marL="0" indent="0">
              <a:buNone/>
            </a:pPr>
            <a:endParaRPr lang="en-GB" dirty="0"/>
          </a:p>
          <a:p>
            <a:pPr marL="0" indent="0">
              <a:buNone/>
            </a:pPr>
            <a:r>
              <a:rPr lang="en-GB" dirty="0">
                <a:solidFill>
                  <a:schemeClr val="accent6"/>
                </a:solidFill>
              </a:rPr>
              <a:t>#give each bar a different colour </a:t>
            </a:r>
          </a:p>
          <a:p>
            <a:pPr marL="0" indent="0">
              <a:buNone/>
            </a:pPr>
            <a:r>
              <a:rPr lang="en-GB" dirty="0" err="1"/>
              <a:t>barplot</a:t>
            </a:r>
            <a:r>
              <a:rPr lang="en-GB" dirty="0"/>
              <a:t>(species data, </a:t>
            </a:r>
            <a:r>
              <a:rPr lang="en-GB" dirty="0" err="1"/>
              <a:t>xlab</a:t>
            </a:r>
            <a:r>
              <a:rPr lang="en-GB" dirty="0"/>
              <a:t>=</a:t>
            </a:r>
            <a:r>
              <a:rPr lang="en-GB" dirty="0">
                <a:solidFill>
                  <a:schemeClr val="accent6"/>
                </a:solidFill>
              </a:rPr>
              <a:t>"species of iris"</a:t>
            </a:r>
            <a:r>
              <a:rPr lang="en-GB" dirty="0"/>
              <a:t>, </a:t>
            </a:r>
            <a:r>
              <a:rPr lang="en-GB" dirty="0" err="1"/>
              <a:t>ylab</a:t>
            </a:r>
            <a:r>
              <a:rPr lang="en-GB" dirty="0"/>
              <a:t>=</a:t>
            </a:r>
            <a:r>
              <a:rPr lang="en-GB" dirty="0">
                <a:solidFill>
                  <a:schemeClr val="accent6"/>
                </a:solidFill>
              </a:rPr>
              <a:t>"frequency"</a:t>
            </a:r>
            <a:r>
              <a:rPr lang="en-GB" dirty="0"/>
              <a:t>, </a:t>
            </a:r>
            <a:r>
              <a:rPr lang="en-GB" dirty="0" err="1"/>
              <a:t>ylim</a:t>
            </a:r>
            <a:r>
              <a:rPr lang="en-GB" dirty="0"/>
              <a:t>=c(</a:t>
            </a:r>
            <a:r>
              <a:rPr lang="en-GB" dirty="0">
                <a:solidFill>
                  <a:schemeClr val="accent1"/>
                </a:solidFill>
              </a:rPr>
              <a:t>0</a:t>
            </a:r>
            <a:r>
              <a:rPr lang="en-GB" dirty="0"/>
              <a:t>, </a:t>
            </a:r>
            <a:r>
              <a:rPr lang="en-GB" dirty="0">
                <a:solidFill>
                  <a:schemeClr val="accent1"/>
                </a:solidFill>
              </a:rPr>
              <a:t>60</a:t>
            </a:r>
            <a:r>
              <a:rPr lang="en-GB" dirty="0"/>
              <a:t>), col=c(</a:t>
            </a:r>
            <a:r>
              <a:rPr lang="en-GB" dirty="0">
                <a:solidFill>
                  <a:schemeClr val="accent6"/>
                </a:solidFill>
              </a:rPr>
              <a:t>"</a:t>
            </a:r>
            <a:r>
              <a:rPr lang="en-GB" dirty="0" err="1">
                <a:solidFill>
                  <a:schemeClr val="accent6"/>
                </a:solidFill>
              </a:rPr>
              <a:t>lightslateblue</a:t>
            </a:r>
            <a:r>
              <a:rPr lang="en-GB" dirty="0">
                <a:solidFill>
                  <a:schemeClr val="accent6"/>
                </a:solidFill>
              </a:rPr>
              <a:t>"</a:t>
            </a:r>
            <a:r>
              <a:rPr lang="en-GB" dirty="0"/>
              <a:t>,</a:t>
            </a:r>
            <a:r>
              <a:rPr lang="en-GB" dirty="0">
                <a:solidFill>
                  <a:schemeClr val="accent6"/>
                </a:solidFill>
              </a:rPr>
              <a:t>"</a:t>
            </a:r>
            <a:r>
              <a:rPr lang="en-GB" dirty="0" err="1">
                <a:solidFill>
                  <a:schemeClr val="accent6"/>
                </a:solidFill>
              </a:rPr>
              <a:t>purple"</a:t>
            </a:r>
            <a:r>
              <a:rPr lang="en-GB" dirty="0" err="1"/>
              <a:t>,</a:t>
            </a:r>
            <a:r>
              <a:rPr lang="en-GB" dirty="0" err="1">
                <a:solidFill>
                  <a:schemeClr val="accent6"/>
                </a:solidFill>
              </a:rPr>
              <a:t>"orange</a:t>
            </a:r>
            <a:r>
              <a:rPr lang="en-GB" dirty="0">
                <a:solidFill>
                  <a:schemeClr val="accent6"/>
                </a:solidFill>
              </a:rPr>
              <a:t>"</a:t>
            </a:r>
            <a:r>
              <a:rPr lang="en-GB" dirty="0"/>
              <a:t>))</a:t>
            </a:r>
          </a:p>
        </p:txBody>
      </p:sp>
    </p:spTree>
    <p:extLst>
      <p:ext uri="{BB962C8B-B14F-4D97-AF65-F5344CB8AC3E}">
        <p14:creationId xmlns:p14="http://schemas.microsoft.com/office/powerpoint/2010/main" val="1876074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16947-7F97-6F8B-F40D-5AD98C8A4B19}"/>
              </a:ext>
            </a:extLst>
          </p:cNvPr>
          <p:cNvSpPr>
            <a:spLocks noGrp="1"/>
          </p:cNvSpPr>
          <p:nvPr>
            <p:ph type="title"/>
          </p:nvPr>
        </p:nvSpPr>
        <p:spPr/>
        <p:txBody>
          <a:bodyPr/>
          <a:lstStyle/>
          <a:p>
            <a:r>
              <a:rPr lang="en-GB" dirty="0"/>
              <a:t>Let’s add some colour cont... </a:t>
            </a:r>
          </a:p>
        </p:txBody>
      </p:sp>
      <p:pic>
        <p:nvPicPr>
          <p:cNvPr id="5" name="Content Placeholder 4">
            <a:extLst>
              <a:ext uri="{FF2B5EF4-FFF2-40B4-BE49-F238E27FC236}">
                <a16:creationId xmlns:a16="http://schemas.microsoft.com/office/drawing/2014/main" id="{8CC2CE25-29BD-07C5-887A-EFD4265B5413}"/>
              </a:ext>
            </a:extLst>
          </p:cNvPr>
          <p:cNvPicPr>
            <a:picLocks noGrp="1" noChangeAspect="1"/>
          </p:cNvPicPr>
          <p:nvPr>
            <p:ph idx="1"/>
          </p:nvPr>
        </p:nvPicPr>
        <p:blipFill>
          <a:blip r:embed="rId2"/>
          <a:stretch>
            <a:fillRect/>
          </a:stretch>
        </p:blipFill>
        <p:spPr>
          <a:xfrm>
            <a:off x="2328862" y="2239169"/>
            <a:ext cx="7534275" cy="3524250"/>
          </a:xfrm>
        </p:spPr>
      </p:pic>
    </p:spTree>
    <p:extLst>
      <p:ext uri="{BB962C8B-B14F-4D97-AF65-F5344CB8AC3E}">
        <p14:creationId xmlns:p14="http://schemas.microsoft.com/office/powerpoint/2010/main" val="1936414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1D050-C8BB-6301-3989-276B4FFB67DB}"/>
              </a:ext>
            </a:extLst>
          </p:cNvPr>
          <p:cNvSpPr>
            <a:spLocks noGrp="1"/>
          </p:cNvSpPr>
          <p:nvPr>
            <p:ph type="title"/>
          </p:nvPr>
        </p:nvSpPr>
        <p:spPr/>
        <p:txBody>
          <a:bodyPr/>
          <a:lstStyle/>
          <a:p>
            <a:r>
              <a:rPr lang="en-GB" dirty="0"/>
              <a:t>Tips on Creating Effective Charts </a:t>
            </a:r>
          </a:p>
        </p:txBody>
      </p:sp>
      <p:sp>
        <p:nvSpPr>
          <p:cNvPr id="3" name="Content Placeholder 2">
            <a:extLst>
              <a:ext uri="{FF2B5EF4-FFF2-40B4-BE49-F238E27FC236}">
                <a16:creationId xmlns:a16="http://schemas.microsoft.com/office/drawing/2014/main" id="{B24DF56F-5435-FFC7-5199-13477E74306E}"/>
              </a:ext>
            </a:extLst>
          </p:cNvPr>
          <p:cNvSpPr>
            <a:spLocks noGrp="1"/>
          </p:cNvSpPr>
          <p:nvPr>
            <p:ph idx="1"/>
          </p:nvPr>
        </p:nvSpPr>
        <p:spPr/>
        <p:txBody>
          <a:bodyPr/>
          <a:lstStyle/>
          <a:p>
            <a:endParaRPr lang="en-GB" dirty="0"/>
          </a:p>
          <a:p>
            <a:r>
              <a:rPr lang="en-GB" dirty="0"/>
              <a:t>Avoid cluttered charts and graphs. </a:t>
            </a:r>
          </a:p>
          <a:p>
            <a:r>
              <a:rPr lang="en-GB" dirty="0"/>
              <a:t>Label everything to avoid ambiguity i.e. label axis with units (if appropriate). </a:t>
            </a:r>
          </a:p>
          <a:p>
            <a:r>
              <a:rPr lang="en-GB" dirty="0"/>
              <a:t>Remember when visualising data, you want to make the reader/viewer’s reading experience as easy as possible.</a:t>
            </a:r>
          </a:p>
        </p:txBody>
      </p:sp>
    </p:spTree>
    <p:extLst>
      <p:ext uri="{BB962C8B-B14F-4D97-AF65-F5344CB8AC3E}">
        <p14:creationId xmlns:p14="http://schemas.microsoft.com/office/powerpoint/2010/main" val="913566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1144</TotalTime>
  <Words>963</Words>
  <Application>Microsoft Office PowerPoint</Application>
  <PresentationFormat>Widescreen</PresentationFormat>
  <Paragraphs>85</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Cambria Math</vt:lpstr>
      <vt:lpstr>Courier New</vt:lpstr>
      <vt:lpstr>Office Theme</vt:lpstr>
      <vt:lpstr>Topic 3: Data Visualisation Introduction to Bar Charts</vt:lpstr>
      <vt:lpstr>When to use a bar chart</vt:lpstr>
      <vt:lpstr>Iris Data Set</vt:lpstr>
      <vt:lpstr>R Help</vt:lpstr>
      <vt:lpstr>R help - Iris Dataset </vt:lpstr>
      <vt:lpstr>Iris Dataset </vt:lpstr>
      <vt:lpstr>Create a bar plot of the iris data set </vt:lpstr>
      <vt:lpstr>Create a bar plot of the iris data set cont... </vt:lpstr>
      <vt:lpstr>Create a bar plot of the iris data set cont... </vt:lpstr>
      <vt:lpstr>Add axis labels to a plot </vt:lpstr>
      <vt:lpstr>Add axis labels to a plot cont... </vt:lpstr>
      <vt:lpstr>Extending the y axis </vt:lpstr>
      <vt:lpstr>Extending the y axis cont... </vt:lpstr>
      <vt:lpstr>Let’s add some colour </vt:lpstr>
      <vt:lpstr>Let’s add some colour cont... </vt:lpstr>
      <vt:lpstr>Let’s add some colour cont... </vt:lpstr>
      <vt:lpstr>Let’s add some colour cont... </vt:lpstr>
      <vt:lpstr>Tips on Creating Effective Charts </vt:lpstr>
    </vt:vector>
  </TitlesOfParts>
  <Company>University of Strathclyde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3: Data Visualisation Introduction to Bar Charts</dc:title>
  <dc:creator>Connor Watret</dc:creator>
  <cp:lastModifiedBy>Connor Watret</cp:lastModifiedBy>
  <cp:revision>4</cp:revision>
  <dcterms:created xsi:type="dcterms:W3CDTF">2024-10-02T15:00:31Z</dcterms:created>
  <dcterms:modified xsi:type="dcterms:W3CDTF">2024-10-03T10:05:22Z</dcterms:modified>
</cp:coreProperties>
</file>
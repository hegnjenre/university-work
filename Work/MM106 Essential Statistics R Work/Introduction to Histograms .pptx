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9" r:id="rId4"/>
    <p:sldId id="257" r:id="rId5"/>
    <p:sldId id="258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19E8-32F3-881B-0FD7-B35BA4F32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67DC8-920B-9A66-04C4-F29614865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7D423-D9A1-A6E0-B127-E5A65095C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418CA-865C-E09C-1AD1-C2C2AF10D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F3064-9D47-B950-B2BD-4FA9267F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40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A0CF-46F9-60D0-952F-968E79C8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7FC14-40B6-7093-9C47-B24CADDA1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D0727-8E4B-6CD7-0BD8-AB73BDEA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9474C-1E04-D8BE-353F-836D6B28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79769-2A96-8315-30A1-92D94FB1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93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E9F5F-F37B-8888-EFFD-A3E436EA7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C32D7-B9B9-3FD9-D001-A0ABFC725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6AE9E-91D2-3252-32AD-300BF62B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9D6F6-ECA8-5230-52F2-BD2F974C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4B924-B863-30DD-4DB2-575CDDD7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629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2368-DF1A-1169-3162-A1B886536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D7D23-8E26-BC38-05CF-1BF162B20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AEBD8-8888-AABA-DBB1-21F1CED6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78E1D-5EAF-F3B9-864E-4F001366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016D1-8A01-BC97-5432-4D5F083BF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65A06-9F2E-3BA3-7415-665324C6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02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58F1-D41D-EDCC-CEBF-0349C53A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D48C7-2A4C-C273-4654-9EF28AA16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AF1C0-52BB-BE11-152E-DECC5C00C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ACBCF-BE1D-0758-D2F2-17AF339C8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54A0ED-4174-1F67-1AC2-66018549F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772996-7157-E1AB-109E-9D4527DA8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DEF60-9D3B-6705-CAF6-8B4332CBE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579511-83D4-D6C5-327D-E5349AF2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54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5F95-36FA-5D59-FB0F-8529B143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793F72-78D8-4DCE-4336-FA17D027D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A34443-4594-39B2-EE7B-CE6126E87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09917-9A5A-7B83-3D76-1C059C20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85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0DB1C-E8B2-328F-3921-9B199788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00A97-20AF-8A52-5D38-024750E9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87AB8-8346-48EF-BAA2-744DE4FD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50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F308-86F9-A42C-7744-5EA6862BF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3C236-9C2E-AB63-396B-A77EED57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27B2A-8027-E07C-49A0-4457DD3D4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E6EA9-A183-7F1C-4978-A2C25DAA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66A3D-B8B2-FB7D-41AC-E094D3A41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E55F3-65B6-599D-9630-AA43CB3CF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687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D682-188C-CD97-A88B-72B2EE177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0F6238-B080-E77D-D581-C0C834E1C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D8DAF-B8EC-BEAC-9FA3-4E4B8E4BC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60B0F-B713-8141-FC4E-069698E5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95E6B-5DBA-4E1B-1CCE-DBA8C656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1BD43-5771-9436-96E7-F5111F3A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228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59815-5F5B-7FA2-B0E4-48611B488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3EE23-0C1F-A329-9D35-29FE6E39C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C4DC8-6DDF-7C71-816F-0868871AF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6F62D-FD16-63BD-CF88-CF519902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8BE6D-FE41-BCB3-B4F8-45D439FA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90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E99D2D-1360-AE34-4454-9D943BFFE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5E65B-D9CF-0221-C6D3-F37940B7C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75364-ABFE-0837-7CE2-533039FEF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91358-1928-D438-D771-94F42F405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D8628-EF80-D3C0-A04E-CA6EBE33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25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05332E-EEAE-D98E-75B5-0C8BF447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55CDA-7C1B-5590-850F-24C1A0800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E897B-AB51-4861-90AA-FFBC31C10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5BEA1-F676-4C50-AA0C-A2AA7FDCD4C0}" type="datetimeFigureOut">
              <a:rPr lang="en-GB" smtClean="0"/>
              <a:t>02/10/2024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C4E5D-C3CD-8875-4C80-3578023F8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36E83-BC8F-7319-A0D5-DF6124C6C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0E912-557E-401A-95C2-E3DDB2456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03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27B59-4294-BF25-6BF3-57B051D006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Topic 3: Data Visualisation Introduction to Histograms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4AEBA-AFAF-2784-F784-EA8AB2F1DB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MM106/BM110</a:t>
            </a:r>
          </a:p>
          <a:p>
            <a:r>
              <a:rPr lang="en-GB" dirty="0"/>
              <a:t>Connor Watret</a:t>
            </a:r>
          </a:p>
          <a:p>
            <a:r>
              <a:rPr lang="en-GB" dirty="0"/>
              <a:t>connor.watret@strath.ac.uk</a:t>
            </a:r>
          </a:p>
        </p:txBody>
      </p:sp>
    </p:spTree>
    <p:extLst>
      <p:ext uri="{BB962C8B-B14F-4D97-AF65-F5344CB8AC3E}">
        <p14:creationId xmlns:p14="http://schemas.microsoft.com/office/powerpoint/2010/main" val="1672943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E4F0-FA40-76CC-6E09-A65B0C4C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to use a bar chart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AB6CA-C12B-6D62-C3B2-8EFDB751A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Histograms are used to visualise characteristics of the distribution of a </a:t>
            </a:r>
            <a:r>
              <a:rPr lang="en-GB" b="1" dirty="0"/>
              <a:t>continuous numerical variable</a:t>
            </a:r>
            <a:r>
              <a:rPr lang="en-GB" dirty="0"/>
              <a:t>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These are created by splitting the range of the observed values into evenly sized bins. The number of observations that fall into each bin is then plotted as a bar. This shows where the most observations lie, and give an indication of what the statistical distribution looks like.</a:t>
            </a:r>
          </a:p>
        </p:txBody>
      </p:sp>
    </p:spTree>
    <p:extLst>
      <p:ext uri="{BB962C8B-B14F-4D97-AF65-F5344CB8AC3E}">
        <p14:creationId xmlns:p14="http://schemas.microsoft.com/office/powerpoint/2010/main" val="299279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A4797-8988-6282-90C4-36A3EA9B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histogram of the iris data 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1C9C-654F-7D2E-846E-E422BE6AC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R the function for creating a histogram is hist(). You simply pass as an argument a vector of observations - commonly the vector passed in is a column of a data frame. </a:t>
            </a:r>
          </a:p>
          <a:p>
            <a:pPr marL="0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a histogram of the sepal width </a:t>
            </a:r>
          </a:p>
          <a:p>
            <a:pPr marL="457200" lvl="1" indent="0">
              <a:buNone/>
            </a:pP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hist(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iris$Sepal.Width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25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58A84-78B1-A178-D931-B18D06B7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histogram of the iris data set cont...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1AAED5-680C-07B4-293A-066B50E67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1812" y="2205831"/>
            <a:ext cx="6048375" cy="3590925"/>
          </a:xfrm>
        </p:spPr>
      </p:pic>
    </p:spTree>
    <p:extLst>
      <p:ext uri="{BB962C8B-B14F-4D97-AF65-F5344CB8AC3E}">
        <p14:creationId xmlns:p14="http://schemas.microsoft.com/office/powerpoint/2010/main" val="2648160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89C5-CE7A-1105-2B7A-E2B9C19B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histogram of the iris data set cont...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80D941-DA8E-686B-22A7-83C26FB432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There are a number of problems with this plot. </a:t>
                </a:r>
              </a:p>
              <a:p>
                <a:r>
                  <a:rPr lang="en-GB" dirty="0"/>
                  <a:t>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axis labels and the title of the plot are not informative (you do not want axis labels to contain </a:t>
                </a:r>
                <a:r>
                  <a:rPr lang="en-GB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$</a:t>
                </a:r>
                <a:r>
                  <a:rPr lang="en-GB" dirty="0"/>
                  <a:t> as it does not look professional) </a:t>
                </a:r>
              </a:p>
              <a:p>
                <a:r>
                  <a:rPr lang="en-GB" dirty="0"/>
                  <a:t>the scale on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axis does not cover the whole axis </a:t>
                </a:r>
              </a:p>
              <a:p>
                <a:r>
                  <a:rPr lang="en-GB" dirty="0"/>
                  <a:t>the bin width is a bit misleading and hard to read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80D941-DA8E-686B-22A7-83C26FB43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12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827E-BD9A-B381-8752-1B97554BA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 axis labels and title to a plot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A995C-A97B-262A-3CCE-47FB6CB32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have already introduced the </a:t>
            </a:r>
            <a:r>
              <a:rPr lang="en-GB" dirty="0" err="1"/>
              <a:t>xlab</a:t>
            </a:r>
            <a:r>
              <a:rPr lang="en-GB" dirty="0"/>
              <a:t> and </a:t>
            </a:r>
            <a:r>
              <a:rPr lang="en-GB" dirty="0" err="1"/>
              <a:t>ylab</a:t>
            </a:r>
            <a:r>
              <a:rPr lang="en-GB" dirty="0"/>
              <a:t> commands in the previous lesson (these functions add informative x and y labels to a plot). We will now introduce the main function which adds a title to a plot. </a:t>
            </a:r>
          </a:p>
          <a:p>
            <a:pPr marL="0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#add axis labels and title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hist(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iris$Sepal.Width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"Sepal width (cm)"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"Frequency"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main=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"Histogram of sepal width"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503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E4F0-FA40-76CC-6E09-A65B0C4C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 axis labels and title to a plot cont...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3F35B3-09F7-9155-69DF-0317F9D2C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7525" y="2134394"/>
            <a:ext cx="6076950" cy="3733800"/>
          </a:xfrm>
        </p:spPr>
      </p:pic>
    </p:spTree>
    <p:extLst>
      <p:ext uri="{BB962C8B-B14F-4D97-AF65-F5344CB8AC3E}">
        <p14:creationId xmlns:p14="http://schemas.microsoft.com/office/powerpoint/2010/main" val="370029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47A4797-8988-6282-90C4-36A3EA9B32E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Extending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axis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47A4797-8988-6282-90C4-36A3EA9B32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461C9C-654F-7D2E-846E-E422BE6AC2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We use the </a:t>
                </a:r>
                <a:r>
                  <a:rPr lang="en-GB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xlim</a:t>
                </a:r>
                <a:r>
                  <a:rPr lang="en-GB" dirty="0"/>
                  <a:t> and </a:t>
                </a:r>
                <a:r>
                  <a:rPr lang="en-GB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ylim</a:t>
                </a:r>
                <a:r>
                  <a:rPr lang="en-GB" dirty="0"/>
                  <a:t> command to extend the axes. We need to find the maximum sepal width first so that we know how much to extend our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axis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457200" lvl="1" indent="0">
                  <a:buNone/>
                </a:pPr>
                <a:r>
                  <a:rPr lang="en-GB" sz="2800" b="1" dirty="0">
                    <a:solidFill>
                      <a:schemeClr val="accent6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# find maximum sepal width</a:t>
                </a:r>
                <a:r>
                  <a:rPr lang="en-GB" sz="2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GB" sz="2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max(</a:t>
                </a:r>
                <a:r>
                  <a:rPr lang="en-GB" sz="28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iris$Sepal.Width</a:t>
                </a:r>
                <a:r>
                  <a:rPr lang="en-GB" sz="2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 </a:t>
                </a:r>
              </a:p>
              <a:p>
                <a:pPr marL="457200" lvl="1" indent="0">
                  <a:buNone/>
                </a:pPr>
                <a:endParaRPr lang="en-GB" sz="28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200" lvl="1" indent="0">
                  <a:buNone/>
                </a:pPr>
                <a:r>
                  <a:rPr lang="en-GB" sz="2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[1] 4.4</a:t>
                </a:r>
                <a:endParaRPr lang="en-GB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461C9C-654F-7D2E-846E-E422BE6AC2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 r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071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1858A84-78B1-A178-D931-B18D06B7BF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Extending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axis cont...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1858A84-78B1-A178-D931-B18D06B7B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C1093-E502-FC97-1E8A-169661B22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sz="2800" dirty="0"/>
              <a:t>hist(</a:t>
            </a:r>
            <a:r>
              <a:rPr lang="en-GB" sz="2800" dirty="0" err="1"/>
              <a:t>iris$Sepal.Width</a:t>
            </a:r>
            <a:r>
              <a:rPr lang="en-GB" sz="2800" dirty="0"/>
              <a:t>, </a:t>
            </a:r>
            <a:r>
              <a:rPr lang="en-GB" sz="2800" dirty="0" err="1"/>
              <a:t>xlab</a:t>
            </a:r>
            <a:r>
              <a:rPr lang="en-GB" sz="2800" dirty="0"/>
              <a:t>=</a:t>
            </a:r>
            <a:r>
              <a:rPr lang="en-GB" sz="2800" dirty="0">
                <a:solidFill>
                  <a:schemeClr val="accent6"/>
                </a:solidFill>
              </a:rPr>
              <a:t>"Sepal width (cm)"</a:t>
            </a:r>
            <a:r>
              <a:rPr lang="en-GB" sz="2800" dirty="0"/>
              <a:t>, </a:t>
            </a:r>
            <a:r>
              <a:rPr lang="en-GB" sz="2800" dirty="0" err="1"/>
              <a:t>ylab</a:t>
            </a:r>
            <a:r>
              <a:rPr lang="en-GB" sz="2800" dirty="0"/>
              <a:t>=</a:t>
            </a:r>
            <a:r>
              <a:rPr lang="en-GB" sz="2800" dirty="0">
                <a:solidFill>
                  <a:schemeClr val="accent6"/>
                </a:solidFill>
              </a:rPr>
              <a:t>"Frequency"</a:t>
            </a:r>
            <a:r>
              <a:rPr lang="en-GB" sz="2800" dirty="0"/>
              <a:t>, main=</a:t>
            </a:r>
            <a:r>
              <a:rPr lang="en-GB" sz="2800" dirty="0">
                <a:solidFill>
                  <a:schemeClr val="accent6"/>
                </a:solidFill>
              </a:rPr>
              <a:t>"Histogram of sepal width"</a:t>
            </a:r>
            <a:r>
              <a:rPr lang="en-GB" sz="2800" dirty="0"/>
              <a:t>, </a:t>
            </a:r>
            <a:r>
              <a:rPr lang="en-GB" sz="2800" dirty="0" err="1"/>
              <a:t>xlim</a:t>
            </a:r>
            <a:r>
              <a:rPr lang="en-GB" sz="2800" dirty="0"/>
              <a:t>=c(</a:t>
            </a:r>
            <a:r>
              <a:rPr lang="en-GB" sz="2800" dirty="0">
                <a:solidFill>
                  <a:schemeClr val="accent1"/>
                </a:solidFill>
              </a:rPr>
              <a:t>0</a:t>
            </a:r>
            <a:r>
              <a:rPr lang="en-GB" sz="2800" dirty="0"/>
              <a:t>,</a:t>
            </a:r>
            <a:r>
              <a:rPr lang="en-GB" sz="2800" dirty="0">
                <a:solidFill>
                  <a:schemeClr val="accent1"/>
                </a:solidFill>
              </a:rPr>
              <a:t>5</a:t>
            </a:r>
            <a:r>
              <a:rPr lang="en-GB" sz="2800" dirty="0"/>
              <a:t>),</a:t>
            </a:r>
            <a:r>
              <a:rPr lang="en-GB" sz="2800" dirty="0" err="1"/>
              <a:t>ylim</a:t>
            </a:r>
            <a:r>
              <a:rPr lang="en-GB" sz="2800" dirty="0"/>
              <a:t>=c(</a:t>
            </a:r>
            <a:r>
              <a:rPr lang="en-GB" sz="2800" dirty="0">
                <a:solidFill>
                  <a:schemeClr val="accent1"/>
                </a:solidFill>
              </a:rPr>
              <a:t>0</a:t>
            </a:r>
            <a:r>
              <a:rPr lang="en-GB" sz="2800" dirty="0"/>
              <a:t>,</a:t>
            </a:r>
            <a:r>
              <a:rPr lang="en-GB" sz="2800" dirty="0">
                <a:solidFill>
                  <a:schemeClr val="accent1"/>
                </a:solidFill>
              </a:rPr>
              <a:t>40</a:t>
            </a:r>
            <a:r>
              <a:rPr lang="en-GB" sz="2800" dirty="0"/>
              <a:t>))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7250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B6C89C5-CE7A-1105-2B7A-E2B9C19B8E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Extending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axis cont...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B6C89C5-CE7A-1105-2B7A-E2B9C19B8E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0D941-DA8E-686B-22A7-83C26FB43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can see that there is some bunching in this plot and most of the observations occur between 2 and 4.5. </a:t>
            </a:r>
          </a:p>
          <a:p>
            <a:pPr marL="0" indent="0">
              <a:buNone/>
            </a:pPr>
            <a:r>
              <a:rPr lang="en-GB" dirty="0"/>
              <a:t>Let’s adjust the </a:t>
            </a:r>
            <a:r>
              <a:rPr lang="en-GB" dirty="0" err="1"/>
              <a:t>xlim</a:t>
            </a:r>
            <a:r>
              <a:rPr lang="en-GB" dirty="0"/>
              <a:t> to reflect this.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2C4AD-513B-1D4C-0B2C-77161E8AF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44" y="1415658"/>
            <a:ext cx="5013911" cy="292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93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10D827E-BD9A-B381-8752-1B97554BAAD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Extending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axis cont...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10D827E-BD9A-B381-8752-1B97554BAA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A995C-A97B-262A-3CCE-47FB6CB32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hist(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iris$Sepal.Width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"Sepal width (cm)"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"Frequency"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main=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"Histogram of sepal width"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xlim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=c(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4.5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ylim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=c(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594F65-34A8-2957-A59B-A351D81A1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562" y="3154613"/>
            <a:ext cx="5572876" cy="323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20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E4F0-FA40-76CC-6E09-A65B0C4C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Specifying bin size and number of bins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AB6CA-C12B-6D62-C3B2-8EFDB751A4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We can specify the number of bins using the </a:t>
                </a:r>
                <a:r>
                  <a:rPr lang="en-GB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breaks</a:t>
                </a:r>
                <a:r>
                  <a:rPr lang="en-GB" dirty="0"/>
                  <a:t> function within our histogram e.g. </a:t>
                </a:r>
                <a:r>
                  <a:rPr lang="en-GB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breaks=5</a:t>
                </a:r>
                <a:r>
                  <a:rPr lang="en-GB" dirty="0"/>
                  <a:t> will produce a histogram with 5 bars.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our previous histogram it is not quite clear what data range each bin encompasses.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you reduce the number of bins there will be more observations in each bar, therefore you will need to increase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limit to reflect this.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AB6CA-C12B-6D62-C3B2-8EFDB751A4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5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639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A4797-8988-6282-90C4-36A3EA9B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Specifying bin size and number of bins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1C9C-654F-7D2E-846E-E422BE6AC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hist(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iris$Sepal.Width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"Sepal width (cm)"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"Frequency"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main=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"Histogram of sepal width"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xlim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=c(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4.5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ylim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=c(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),breaks=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EA4A4-A375-8F0C-9204-D48C730A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144" y="3576638"/>
            <a:ext cx="5319712" cy="30677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9726D1-0016-9015-6AE0-1BAF1709C922}"/>
              </a:ext>
            </a:extLst>
          </p:cNvPr>
          <p:cNvSpPr/>
          <p:nvPr/>
        </p:nvSpPr>
        <p:spPr>
          <a:xfrm>
            <a:off x="838200" y="1690689"/>
            <a:ext cx="10515600" cy="1885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443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58A84-78B1-A178-D931-B18D06B7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add some colour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C1093-E502-FC97-1E8A-169661B22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chart is a boring with just white bars, let’s shade those in. R has lots of predefined colours. As mentioned previously, we use the col function e.g. col="light green". This means that all the bars will be light green. </a:t>
            </a:r>
          </a:p>
          <a:p>
            <a:pPr marL="0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#colour each bar light green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hist(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iris$Sepal.Width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"Sepal width (cm)"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"Frequency"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main=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"Histogram of sepal width"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xlim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=c(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4.5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ylim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=c(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 breaks=</a:t>
            </a:r>
            <a:r>
              <a:rPr lang="en-GB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col=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lightgreen</a:t>
            </a:r>
            <a:r>
              <a:rPr lang="en-GB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20D941-F93F-318D-7FA2-DCA12E846BA9}"/>
              </a:ext>
            </a:extLst>
          </p:cNvPr>
          <p:cNvSpPr/>
          <p:nvPr/>
        </p:nvSpPr>
        <p:spPr>
          <a:xfrm>
            <a:off x="838200" y="3858126"/>
            <a:ext cx="10515600" cy="22218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894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89C5-CE7A-1105-2B7A-E2B9C19B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add some colour cont...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D11E07-502D-B7D2-91F5-3A226CB04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5612" y="2253456"/>
            <a:ext cx="6200775" cy="3495675"/>
          </a:xfrm>
        </p:spPr>
      </p:pic>
    </p:spTree>
    <p:extLst>
      <p:ext uri="{BB962C8B-B14F-4D97-AF65-F5344CB8AC3E}">
        <p14:creationId xmlns:p14="http://schemas.microsoft.com/office/powerpoint/2010/main" val="3092023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</TotalTime>
  <Words>760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Courier New</vt:lpstr>
      <vt:lpstr>Office Theme</vt:lpstr>
      <vt:lpstr>Topic 3: Data Visualisation Introduction to Histograms </vt:lpstr>
      <vt:lpstr>When to use a bar chart </vt:lpstr>
      <vt:lpstr>Create a histogram of the iris data set </vt:lpstr>
      <vt:lpstr>Create a histogram of the iris data set cont... </vt:lpstr>
      <vt:lpstr>Create a histogram of the iris data set cont... </vt:lpstr>
      <vt:lpstr>Add axis labels and title to a plot </vt:lpstr>
      <vt:lpstr>Add axis labels and title to a plot cont... </vt:lpstr>
      <vt:lpstr>Extending the x and y axis </vt:lpstr>
      <vt:lpstr>Extending the x and y axis cont... </vt:lpstr>
      <vt:lpstr>Extending the x and y axis cont... </vt:lpstr>
      <vt:lpstr>Extending the x and y axis cont... </vt:lpstr>
      <vt:lpstr>Specifying bin size and number of bins </vt:lpstr>
      <vt:lpstr>Specifying bin size and number of bins </vt:lpstr>
      <vt:lpstr>Let’s add some colour </vt:lpstr>
      <vt:lpstr>Let’s add some colour cont... </vt:lpstr>
    </vt:vector>
  </TitlesOfParts>
  <Company>University of Strathclyde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3: Data Visualisation Introduction to Histograms </dc:title>
  <dc:creator>Connor Watret</dc:creator>
  <cp:lastModifiedBy>Connor Watret</cp:lastModifiedBy>
  <cp:revision>1</cp:revision>
  <dcterms:created xsi:type="dcterms:W3CDTF">2024-10-02T18:43:40Z</dcterms:created>
  <dcterms:modified xsi:type="dcterms:W3CDTF">2024-10-03T14:40:56Z</dcterms:modified>
</cp:coreProperties>
</file>
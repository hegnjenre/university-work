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32D2B-E3DC-8F53-D085-61BEFA848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A8ABA-6D6F-3D73-A7AB-700EB152F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556EE-D67D-E8F7-D8A9-6B4D3B40B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3A18-4985-4E25-ADB1-EC5BEFB6C5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AC293-092E-39B3-63D8-152BC8D5D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58226-4CE3-5011-0C3F-1121FA73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6E43-E7A5-4594-AA2F-6027ED897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93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B5B58-2F2F-B997-C609-445EE581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8729E-AF6E-576A-CA14-F1F6335BC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2DB36-4BD0-BF78-BFAB-ECAC7F3D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3A18-4985-4E25-ADB1-EC5BEFB6C5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8B9E2-C628-2FE6-13B6-359EFDE59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E0DAE-D7DA-F0CD-9859-69A625AC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6E43-E7A5-4594-AA2F-6027ED897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59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BDD26-FE31-0F4E-9186-08B110D1F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00737-473D-1DBA-4A5D-149851D10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EA2C0-C707-FC38-F8F7-7DB47DA61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3A18-4985-4E25-ADB1-EC5BEFB6C5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E5F90-45B5-0B95-B6E2-D29FCD5EB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6C841-3E97-662F-CDBA-BF8CCC0C3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6E43-E7A5-4594-AA2F-6027ED897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64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E389-4CD0-17CB-41B7-05D62208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95DD3-BAD5-C77A-D875-E5CA1EC06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9D57F-1CBA-0569-F14A-B160A740E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91791-F3EA-FD55-FF46-92EA37D1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3A18-4985-4E25-ADB1-EC5BEFB6C5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5D223-2279-BFE8-2434-510DA8BC2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9A8E5-48DA-6FB9-36A5-B3292EAF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6E43-E7A5-4594-AA2F-6027ED897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42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8C5A-2B9E-BB41-6B51-93E18C3C3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9EDFA-D2C4-2E70-B563-42BD54185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70E1D-BA42-4DC3-75BA-5073F95F9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414D4-6C6B-39E1-F97D-CDAC4AF1B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D0CBCB-611D-F3E4-BB31-25042A3EB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5C00A-0C55-1E86-2084-1CE45FD3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3A18-4985-4E25-ADB1-EC5BEFB6C5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3C7575-AD46-7876-809F-B6A46F8D5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FE425D-8CFD-795C-BAB6-6CC8BE9E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6E43-E7A5-4594-AA2F-6027ED897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469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C100-DA73-33DC-9BCD-238C15F6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BDC81B-4955-CEA5-54EF-972F4BC8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3A18-4985-4E25-ADB1-EC5BEFB6C5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F7EFE-6CC4-62AA-AEC0-E1DA1311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DCD94A-D250-C84D-BF6A-E296492E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6E43-E7A5-4594-AA2F-6027ED897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37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70769-AB7C-B765-48B8-E0036438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3A18-4985-4E25-ADB1-EC5BEFB6C5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8AF03-0E6B-FA71-32AC-C7EECF650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5C458-E881-7796-74F7-AB5259ED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6E43-E7A5-4594-AA2F-6027ED897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463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6B73-BD03-DB27-133D-85BD8388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19B09-514F-7C93-279B-D6085507D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507C6-2F52-5769-5718-8C52B6A3E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3C0F5-6137-8E05-7FF3-5097DA1E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3A18-4985-4E25-ADB1-EC5BEFB6C5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E44D3-759F-19EB-DD9E-E781ACA89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FF6D4-A7C4-7F40-0009-461EF30B3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6E43-E7A5-4594-AA2F-6027ED897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633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CA177-1BCB-5377-80C5-5CF987854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68AC82-482C-6C03-D07F-65E18CBDB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FB7CD-2788-5F7C-8391-CF97C4306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B9C52-8966-E906-6D7D-AFC7C59D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3A18-4985-4E25-ADB1-EC5BEFB6C5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A01EC-1EEB-50E6-0C22-040B7801E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84BA7-0D8B-AEB2-DE36-6C2E372E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6E43-E7A5-4594-AA2F-6027ED897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633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0EBC1-6EE1-BAC5-E940-CD0A7A79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3C808-DF1A-1993-F8DE-3AAE81425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7F875-A252-8AC4-69A2-E1544EE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3A18-4985-4E25-ADB1-EC5BEFB6C5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368A4-99DD-B298-7EB9-18E17EC0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4686F-2ECB-89D2-024A-82280BA8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6E43-E7A5-4594-AA2F-6027ED897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36D740-5104-8305-822D-A2956B17C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DD74D3-7089-425B-82A0-FD54FEE9B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C1F6A-A4BB-D525-37DC-5A114042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3A18-4985-4E25-ADB1-EC5BEFB6C5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B9510-E615-8FFC-0932-D5B01A936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0192A-DBEE-2688-094C-AF6F04B9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6E43-E7A5-4594-AA2F-6027ED897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46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B51DC-D364-A37A-CF3F-9F7940AF7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29249-9430-78C8-7290-96668E3BA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33E39-D600-C48E-F38F-005A134EE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73A18-4985-4E25-ADB1-EC5BEFB6C5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827CF-7A4E-A0F5-7851-68EFF8E79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6622C-09FC-6BEE-9415-F0A6A3EB5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D6E43-E7A5-4594-AA2F-6027ED897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489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F962-FDE5-9949-06FD-4437C30D68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Topic 3: Data Visualisation Introduction to Boxplots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84B33-AB41-E02D-E4B3-8F2370A867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06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2CA2-1B2B-21C8-B9A2-11FF12EC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boxplot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AD7F7-EE26-E55E-E7EC-93107754E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boxplot is a summary plot which displays the distribution of a continuous numerical variable. The boxplot highlights the </a:t>
            </a:r>
          </a:p>
          <a:p>
            <a:r>
              <a:rPr lang="en-GB" dirty="0"/>
              <a:t>minimum </a:t>
            </a:r>
          </a:p>
          <a:p>
            <a:r>
              <a:rPr lang="en-GB" dirty="0"/>
              <a:t>maximum </a:t>
            </a:r>
          </a:p>
          <a:p>
            <a:r>
              <a:rPr lang="en-GB" dirty="0"/>
              <a:t>lower quartile </a:t>
            </a:r>
          </a:p>
          <a:p>
            <a:r>
              <a:rPr lang="en-GB" dirty="0"/>
              <a:t>upper quartile </a:t>
            </a:r>
          </a:p>
          <a:p>
            <a:r>
              <a:rPr lang="en-GB" dirty="0"/>
              <a:t>median </a:t>
            </a:r>
          </a:p>
          <a:p>
            <a:pPr marL="0" indent="0">
              <a:buNone/>
            </a:pPr>
            <a:r>
              <a:rPr lang="en-GB" dirty="0"/>
              <a:t>These can be used to easily compare observations over multiple categories.</a:t>
            </a:r>
          </a:p>
        </p:txBody>
      </p:sp>
    </p:spTree>
    <p:extLst>
      <p:ext uri="{BB962C8B-B14F-4D97-AF65-F5344CB8AC3E}">
        <p14:creationId xmlns:p14="http://schemas.microsoft.com/office/powerpoint/2010/main" val="99640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A53C-B44C-99F8-F19E-79F7C8DF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boxplot cont...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00DCB-83BE-C587-566D-49006461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box plot is made up of a box, which is limited by the lower and upper quartiles. Then a set of whiskers which show the tails of the distribution. Any observations that are outside of these limits could be thought of as outliers.</a:t>
            </a:r>
          </a:p>
        </p:txBody>
      </p:sp>
    </p:spTree>
    <p:extLst>
      <p:ext uri="{BB962C8B-B14F-4D97-AF65-F5344CB8AC3E}">
        <p14:creationId xmlns:p14="http://schemas.microsoft.com/office/powerpoint/2010/main" val="1441634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D8B5-0F2E-F9CE-3980-2F959734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an outlier 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3234D0-0A3F-8D6F-A00A-EE70A27727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lvl="1" indent="0">
                  <a:buNone/>
                </a:pPr>
                <a:r>
                  <a:rPr lang="en-GB" sz="2800" dirty="0"/>
                  <a:t>An outlier is an observation that lies an abnormal distance from other values in a random sample from a population. 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 data point is said to be an outlier if</a:t>
                </a:r>
                <a:endParaRPr lang="en-GB" sz="3200" dirty="0"/>
              </a:p>
              <a:p>
                <a:pPr lvl="1"/>
                <a:r>
                  <a:rPr lang="en-GB" sz="2800" dirty="0"/>
                  <a:t>it is less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GB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i="1" dirty="0" smtClean="0">
                        <a:latin typeface="Cambria Math" panose="02040503050406030204" pitchFamily="18" charset="0"/>
                      </a:rPr>
                      <m:t>−(1.5×</m:t>
                    </m:r>
                    <m:r>
                      <a:rPr lang="en-GB" sz="2800" i="1" dirty="0" smtClean="0">
                        <a:latin typeface="Cambria Math" panose="02040503050406030204" pitchFamily="18" charset="0"/>
                      </a:rPr>
                      <m:t>𝐼𝑄𝑅</m:t>
                    </m:r>
                    <m:r>
                      <a:rPr lang="en-GB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GB" sz="2800" dirty="0"/>
              </a:p>
              <a:p>
                <a:pPr lvl="1"/>
                <a:r>
                  <a:rPr lang="en-GB" sz="2800" dirty="0"/>
                  <a:t>or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GB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800" i="1" dirty="0" smtClean="0">
                        <a:latin typeface="Cambria Math" panose="02040503050406030204" pitchFamily="18" charset="0"/>
                      </a:rPr>
                      <m:t>+(1.5×</m:t>
                    </m:r>
                    <m:r>
                      <a:rPr lang="en-GB" sz="2800" i="1" dirty="0" smtClean="0">
                        <a:latin typeface="Cambria Math" panose="02040503050406030204" pitchFamily="18" charset="0"/>
                      </a:rPr>
                      <m:t>𝐼𝑄𝑅</m:t>
                    </m:r>
                    <m:r>
                      <a:rPr lang="en-GB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GB" sz="280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There is a lot of discussion in statistics about whether or not to remove outliers, it depends on the data set.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3234D0-0A3F-8D6F-A00A-EE70A27727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928" b="-1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7EDED75-83E0-A95F-3671-21C449348689}"/>
              </a:ext>
            </a:extLst>
          </p:cNvPr>
          <p:cNvSpPr/>
          <p:nvPr/>
        </p:nvSpPr>
        <p:spPr>
          <a:xfrm>
            <a:off x="838200" y="1762542"/>
            <a:ext cx="10515600" cy="104265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59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2CA2-1B2B-21C8-B9A2-11FF12EC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boxplot of the iris data 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AD7F7-EE26-E55E-E7EC-93107754E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54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In R the function for creating a boxplot is boxplot(). You simply pass as an argument a vector of observations - commonly the vector passed in is a column of a data frame. We are going to create a boxplot for petal length in R and add a label to the y axis using the </a:t>
            </a:r>
            <a:r>
              <a:rPr lang="en-GB" dirty="0" err="1"/>
              <a:t>ylab</a:t>
            </a:r>
            <a:r>
              <a:rPr lang="en-GB" dirty="0"/>
              <a:t> command. 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require the data if you have opened R </a:t>
            </a:r>
          </a:p>
          <a:p>
            <a:pPr marL="0" indent="0">
              <a:buNone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data(iris) </a:t>
            </a:r>
          </a:p>
          <a:p>
            <a:pPr marL="0" indent="0">
              <a:buNone/>
            </a:pPr>
            <a:endParaRPr lang="en-GB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a boxplot and add a y label </a:t>
            </a:r>
          </a:p>
          <a:p>
            <a:pPr marL="0" indent="0">
              <a:buNone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boxplot(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iris$Petal.Length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GB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="Petal length (cm)"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CA822D-48FC-88AA-2E02-8D804F89705D}"/>
              </a:ext>
            </a:extLst>
          </p:cNvPr>
          <p:cNvSpPr/>
          <p:nvPr/>
        </p:nvSpPr>
        <p:spPr>
          <a:xfrm>
            <a:off x="838200" y="3429000"/>
            <a:ext cx="10515600" cy="290205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47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A53C-B44C-99F8-F19E-79F7C8DF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boxplot of the iris data set cont...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E25A49-73C0-FD99-DF59-EDAA80C3F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6987" y="2396331"/>
            <a:ext cx="7058025" cy="3209925"/>
          </a:xfrm>
        </p:spPr>
      </p:pic>
    </p:spTree>
    <p:extLst>
      <p:ext uri="{BB962C8B-B14F-4D97-AF65-F5344CB8AC3E}">
        <p14:creationId xmlns:p14="http://schemas.microsoft.com/office/powerpoint/2010/main" val="1237524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D8B5-0F2E-F9CE-3980-2F959734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Splitting a boxplot by category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234D0-0A3F-8D6F-A00A-EE70A2772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learned in the previous slides that there are three types of iris in this data set: </a:t>
            </a:r>
            <a:r>
              <a:rPr lang="en-GB" dirty="0" err="1"/>
              <a:t>setosa</a:t>
            </a:r>
            <a:r>
              <a:rPr lang="en-GB" dirty="0"/>
              <a:t>, versicolor and virginica.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It may be more informative to display a boxplot for each type of iris and its corresponding petal length. </a:t>
            </a:r>
          </a:p>
        </p:txBody>
      </p:sp>
    </p:spTree>
    <p:extLst>
      <p:ext uri="{BB962C8B-B14F-4D97-AF65-F5344CB8AC3E}">
        <p14:creationId xmlns:p14="http://schemas.microsoft.com/office/powerpoint/2010/main" val="2620747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2CA2-1B2B-21C8-B9A2-11FF12EC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Splitting a boxplot by category cont...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AD7F7-EE26-E55E-E7EC-93107754E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You can also plot boxplots by grouping variables by using the formula construct. The formula construct makes use of a.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continuous variable is specified on the left of the formula, the categorical variables are specified on the right of the formula.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 boxplot separated by species of iris would be specified as follows </a:t>
            </a:r>
          </a:p>
          <a:p>
            <a:pPr marL="0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sz="2800" dirty="0"/>
              <a:t>boxplot(</a:t>
            </a:r>
            <a:r>
              <a:rPr lang="en-GB" sz="2800" dirty="0" err="1"/>
              <a:t>iris$Petal.Length</a:t>
            </a:r>
            <a:r>
              <a:rPr lang="en-GB" sz="2800" dirty="0"/>
              <a:t> ∼ </a:t>
            </a:r>
            <a:r>
              <a:rPr lang="en-GB" sz="2800" dirty="0" err="1"/>
              <a:t>iris$Species</a:t>
            </a:r>
            <a:r>
              <a:rPr lang="en-GB" sz="2800" dirty="0"/>
              <a:t>, data=iris, </a:t>
            </a:r>
            <a:r>
              <a:rPr lang="en-GB" sz="2800" dirty="0" err="1"/>
              <a:t>ylab</a:t>
            </a:r>
            <a:r>
              <a:rPr lang="en-GB" sz="2800" dirty="0"/>
              <a:t>=</a:t>
            </a:r>
            <a:r>
              <a:rPr lang="en-GB" sz="2800" dirty="0">
                <a:solidFill>
                  <a:schemeClr val="accent6"/>
                </a:solidFill>
              </a:rPr>
              <a:t>"Petal length (cm)", </a:t>
            </a:r>
            <a:r>
              <a:rPr lang="en-GB" sz="2800" dirty="0" err="1"/>
              <a:t>xlab</a:t>
            </a:r>
            <a:r>
              <a:rPr lang="en-GB" sz="2800" dirty="0"/>
              <a:t>=</a:t>
            </a:r>
            <a:r>
              <a:rPr lang="en-GB" sz="2800" dirty="0">
                <a:solidFill>
                  <a:schemeClr val="accent6"/>
                </a:solidFill>
              </a:rPr>
              <a:t>"Species of iris")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024B14-CAE8-5FD8-9FF9-BBC11C11159A}"/>
              </a:ext>
            </a:extLst>
          </p:cNvPr>
          <p:cNvSpPr/>
          <p:nvPr/>
        </p:nvSpPr>
        <p:spPr>
          <a:xfrm>
            <a:off x="838200" y="5013702"/>
            <a:ext cx="10515600" cy="11632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337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A53C-B44C-99F8-F19E-79F7C8DF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Splitting a boxplot by category cont...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C00DCB-83BE-C587-566D-49006461DB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Let’s break down the code on the last slide </a:t>
                </a:r>
              </a:p>
              <a:p>
                <a:r>
                  <a:rPr lang="en-GB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iris$Petal.Length</a:t>
                </a:r>
                <a:r>
                  <a:rPr lang="en-GB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∼ </a:t>
                </a:r>
                <a:r>
                  <a:rPr lang="en-GB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iris$Species</a:t>
                </a:r>
                <a:r>
                  <a:rPr lang="en-GB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GB" dirty="0"/>
                  <a:t>says separate the petal length by the species of iris </a:t>
                </a:r>
              </a:p>
              <a:p>
                <a:r>
                  <a:rPr lang="en-GB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data=iris</a:t>
                </a:r>
                <a:r>
                  <a:rPr lang="en-GB" dirty="0"/>
                  <a:t> use the data set iris </a:t>
                </a:r>
              </a:p>
              <a:p>
                <a:r>
                  <a:rPr lang="en-GB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xlab</a:t>
                </a:r>
                <a:r>
                  <a:rPr lang="en-GB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="Species of iris"</a:t>
                </a:r>
                <a:r>
                  <a:rPr lang="en-GB" dirty="0"/>
                  <a:t> label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axis Species of iris </a:t>
                </a:r>
              </a:p>
              <a:p>
                <a:r>
                  <a:rPr lang="en-GB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ylab</a:t>
                </a:r>
                <a:r>
                  <a:rPr lang="en-GB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="Petal length (cm)"</a:t>
                </a:r>
                <a:r>
                  <a:rPr lang="en-GB" dirty="0"/>
                  <a:t> label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axis Petal length (cm)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C00DCB-83BE-C587-566D-49006461D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1508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19F7E9-3611-A7AD-587B-BD9061AEE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399" y="1366982"/>
            <a:ext cx="6174166" cy="30240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10D8B5-0F2E-F9CE-3980-2F959734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Splitting a boxplot by category cont...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234D0-0A3F-8D6F-A00A-EE70A2772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76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Interpretation of the boxplot </a:t>
            </a:r>
          </a:p>
          <a:p>
            <a:r>
              <a:rPr lang="en-GB" dirty="0"/>
              <a:t>The </a:t>
            </a:r>
            <a:r>
              <a:rPr lang="en-GB" dirty="0" err="1"/>
              <a:t>setosa</a:t>
            </a:r>
            <a:r>
              <a:rPr lang="en-GB" dirty="0"/>
              <a:t> and versicolor iris both contain an outlier (indicated by the circle below the whisker). Further investigation would be needed on these values. </a:t>
            </a:r>
          </a:p>
          <a:p>
            <a:r>
              <a:rPr lang="en-GB" dirty="0" err="1"/>
              <a:t>Setosa</a:t>
            </a:r>
            <a:r>
              <a:rPr lang="en-GB" dirty="0"/>
              <a:t> has the smallest petal length and virginica has the highest petal length.</a:t>
            </a:r>
          </a:p>
        </p:txBody>
      </p:sp>
    </p:spTree>
    <p:extLst>
      <p:ext uri="{BB962C8B-B14F-4D97-AF65-F5344CB8AC3E}">
        <p14:creationId xmlns:p14="http://schemas.microsoft.com/office/powerpoint/2010/main" val="4134579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566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Courier New</vt:lpstr>
      <vt:lpstr>Office Theme</vt:lpstr>
      <vt:lpstr>Topic 3: Data Visualisation Introduction to Boxplots</vt:lpstr>
      <vt:lpstr>What is a boxplot</vt:lpstr>
      <vt:lpstr>What is a boxplot cont...</vt:lpstr>
      <vt:lpstr>What is an outlier ?</vt:lpstr>
      <vt:lpstr>Create a boxplot of the iris data set </vt:lpstr>
      <vt:lpstr>Create a boxplot of the iris data set cont... </vt:lpstr>
      <vt:lpstr>Splitting a boxplot by category </vt:lpstr>
      <vt:lpstr>Splitting a boxplot by category cont... </vt:lpstr>
      <vt:lpstr>Splitting a boxplot by category cont... </vt:lpstr>
      <vt:lpstr>Splitting a boxplot by category cont... </vt:lpstr>
    </vt:vector>
  </TitlesOfParts>
  <Company>University of Strathclyde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3: Data Visualisation Introduction to Boxplots</dc:title>
  <dc:creator>Connor Watret</dc:creator>
  <cp:lastModifiedBy>Connor Watret</cp:lastModifiedBy>
  <cp:revision>1</cp:revision>
  <dcterms:created xsi:type="dcterms:W3CDTF">2024-10-03T14:41:34Z</dcterms:created>
  <dcterms:modified xsi:type="dcterms:W3CDTF">2024-10-03T15:35:10Z</dcterms:modified>
</cp:coreProperties>
</file>